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Poppins"/>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8" roundtripDataSignature="AMtx7mjtR6NfLcf4aTDh16KmYC9o5O6M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5E955CB-FF8B-4BF6-88FE-A18BC787156E}">
  <a:tblStyle styleId="{15E955CB-FF8B-4BF6-88FE-A18BC787156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Poppins-bold.fntdata"/><Relationship Id="rId14" Type="http://schemas.openxmlformats.org/officeDocument/2006/relationships/font" Target="fonts/Poppins-regular.fntdata"/><Relationship Id="rId17" Type="http://schemas.openxmlformats.org/officeDocument/2006/relationships/font" Target="fonts/Poppins-boldItalic.fntdata"/><Relationship Id="rId16" Type="http://schemas.openxmlformats.org/officeDocument/2006/relationships/font" Target="fonts/Poppi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TALKING POINTS (~1 min):</a:t>
            </a:r>
            <a:endParaRPr/>
          </a:p>
          <a:p>
            <a:pPr indent="-298450" lvl="0" marL="457200" rtl="0" algn="l">
              <a:lnSpc>
                <a:spcPct val="100000"/>
              </a:lnSpc>
              <a:spcBef>
                <a:spcPts val="0"/>
              </a:spcBef>
              <a:spcAft>
                <a:spcPts val="0"/>
              </a:spcAft>
              <a:buSzPts val="1100"/>
              <a:buChar char="●"/>
            </a:pPr>
            <a:r>
              <a:rPr lang="en" sz="1100"/>
              <a:t>- Introduce yourself: Victor Weeks, software engineer at NCAR, 2026 BSSw Fellow.</a:t>
            </a:r>
            <a:endParaRPr/>
          </a:p>
          <a:p>
            <a:pPr indent="-298450" lvl="0" marL="457200" rtl="0" algn="l">
              <a:lnSpc>
                <a:spcPct val="100000"/>
              </a:lnSpc>
              <a:spcBef>
                <a:spcPts val="0"/>
              </a:spcBef>
              <a:spcAft>
                <a:spcPts val="0"/>
              </a:spcAft>
              <a:buSzPts val="1100"/>
              <a:buChar char="●"/>
            </a:pPr>
            <a:r>
              <a:rPr lang="en" sz="1100"/>
              <a:t>- Frame the talk: We've been discussing how AI can help with computational reproducibility. I want to raise a complementary question — what happens when AI is building the computational artifacts we're trying to reproduce?</a:t>
            </a:r>
            <a:endParaRPr/>
          </a:p>
          <a:p>
            <a:pPr indent="-298450" lvl="0" marL="457200" rtl="0" algn="l">
              <a:lnSpc>
                <a:spcPct val="100000"/>
              </a:lnSpc>
              <a:spcBef>
                <a:spcPts val="0"/>
              </a:spcBef>
              <a:spcAft>
                <a:spcPts val="0"/>
              </a:spcAft>
              <a:buSzPts val="1100"/>
              <a:buChar char="●"/>
            </a:pPr>
            <a:r>
              <a:rPr lang="en" sz="1100"/>
              <a:t>- Transition: Let me set the stage.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TALKING POINTS (~1.5 min):</a:t>
            </a:r>
            <a:endParaRPr/>
          </a:p>
          <a:p>
            <a:pPr indent="-298450" lvl="0" marL="457200" rtl="0" algn="l">
              <a:lnSpc>
                <a:spcPct val="100000"/>
              </a:lnSpc>
              <a:spcBef>
                <a:spcPts val="0"/>
              </a:spcBef>
              <a:spcAft>
                <a:spcPts val="0"/>
              </a:spcAft>
              <a:buSzPts val="1100"/>
              <a:buChar char="●"/>
            </a:pPr>
            <a:r>
              <a:rPr lang="en" sz="1100"/>
              <a:t>- This symposium is exploring the left side — how can AI help us reproduce computational artifacts? That's a great direction.</a:t>
            </a:r>
            <a:endParaRPr/>
          </a:p>
          <a:p>
            <a:pPr indent="-298450" lvl="0" marL="457200" rtl="0" algn="l">
              <a:lnSpc>
                <a:spcPct val="100000"/>
              </a:lnSpc>
              <a:spcBef>
                <a:spcPts val="0"/>
              </a:spcBef>
              <a:spcAft>
                <a:spcPts val="0"/>
              </a:spcAft>
              <a:buSzPts val="1100"/>
              <a:buChar char="●"/>
            </a:pPr>
            <a:r>
              <a:rPr lang="en" sz="1100"/>
              <a:t>- But there's a parallel trend: AI is increasingly being used on the build side too.</a:t>
            </a:r>
            <a:endParaRPr/>
          </a:p>
          <a:p>
            <a:pPr indent="-298450" lvl="0" marL="457200" rtl="0" algn="l">
              <a:lnSpc>
                <a:spcPct val="100000"/>
              </a:lnSpc>
              <a:spcBef>
                <a:spcPts val="0"/>
              </a:spcBef>
              <a:spcAft>
                <a:spcPts val="0"/>
              </a:spcAft>
              <a:buSzPts val="1100"/>
              <a:buChar char="●"/>
            </a:pPr>
            <a:r>
              <a:rPr lang="en" sz="1100"/>
              <a:t>- These are two sides of the same coin. If we don't get the build side right, we're producing artifacts that are harder to describe, evaluate, and reproduce — making the AD/AE process even more challenging.</a:t>
            </a:r>
            <a:endParaRPr/>
          </a:p>
          <a:p>
            <a:pPr indent="-298450" lvl="0" marL="457200" rtl="0" algn="l">
              <a:lnSpc>
                <a:spcPct val="100000"/>
              </a:lnSpc>
              <a:spcBef>
                <a:spcPts val="0"/>
              </a:spcBef>
              <a:spcAft>
                <a:spcPts val="0"/>
              </a:spcAft>
              <a:buSzPts val="1100"/>
              <a:buChar char="●"/>
            </a:pPr>
            <a:r>
              <a:rPr lang="en" sz="1100"/>
              <a:t>- Transition: What does 'not getting it right' look like?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TALKING POINTS (~1 min):</a:t>
            </a:r>
            <a:endParaRPr/>
          </a:p>
          <a:p>
            <a:pPr indent="-298450" lvl="0" marL="457200" rtl="0" algn="l">
              <a:lnSpc>
                <a:spcPct val="100000"/>
              </a:lnSpc>
              <a:spcBef>
                <a:spcPts val="0"/>
              </a:spcBef>
              <a:spcAft>
                <a:spcPts val="0"/>
              </a:spcAft>
              <a:buSzPts val="1100"/>
              <a:buChar char="●"/>
            </a:pPr>
            <a:r>
              <a:rPr lang="en" sz="1100"/>
              <a:t>- Quick tour of where AI-assisted dev is today.</a:t>
            </a:r>
            <a:endParaRPr/>
          </a:p>
          <a:p>
            <a:pPr indent="-298450" lvl="0" marL="457200" rtl="0" algn="l">
              <a:lnSpc>
                <a:spcPct val="100000"/>
              </a:lnSpc>
              <a:spcBef>
                <a:spcPts val="0"/>
              </a:spcBef>
              <a:spcAft>
                <a:spcPts val="0"/>
              </a:spcAft>
              <a:buSzPts val="1100"/>
              <a:buChar char="●"/>
            </a:pPr>
            <a:r>
              <a:rPr lang="en" sz="1100"/>
              <a:t>- 'Vibe coding' — conversational, developer in the loop.</a:t>
            </a:r>
            <a:endParaRPr/>
          </a:p>
          <a:p>
            <a:pPr indent="-298450" lvl="0" marL="457200" rtl="0" algn="l">
              <a:lnSpc>
                <a:spcPct val="100000"/>
              </a:lnSpc>
              <a:spcBef>
                <a:spcPts val="0"/>
              </a:spcBef>
              <a:spcAft>
                <a:spcPts val="0"/>
              </a:spcAft>
              <a:buSzPts val="1100"/>
              <a:buChar char="●"/>
            </a:pPr>
            <a:r>
              <a:rPr lang="en" sz="1100"/>
              <a:t>- MCP and tool use — agents interacting with external systems. Chameleon already has an MCP server — a great example of this pattern.</a:t>
            </a:r>
            <a:endParaRPr/>
          </a:p>
          <a:p>
            <a:pPr indent="-298450" lvl="0" marL="457200" rtl="0" algn="l">
              <a:lnSpc>
                <a:spcPct val="100000"/>
              </a:lnSpc>
              <a:spcBef>
                <a:spcPts val="0"/>
              </a:spcBef>
              <a:spcAft>
                <a:spcPts val="0"/>
              </a:spcAft>
              <a:buSzPts val="1100"/>
              <a:buChar char="●"/>
            </a:pPr>
            <a:r>
              <a:rPr lang="en" sz="1100"/>
              <a:t>- Autonomous agents — multi-step decisions with less human oversight.</a:t>
            </a:r>
            <a:endParaRPr/>
          </a:p>
          <a:p>
            <a:pPr indent="-298450" lvl="0" marL="457200" rtl="0" algn="l">
              <a:lnSpc>
                <a:spcPct val="100000"/>
              </a:lnSpc>
              <a:spcBef>
                <a:spcPts val="0"/>
              </a:spcBef>
              <a:spcAft>
                <a:spcPts val="0"/>
              </a:spcAft>
              <a:buSzPts val="1100"/>
              <a:buChar char="●"/>
            </a:pPr>
            <a:r>
              <a:rPr lang="en" sz="1100"/>
              <a:t>- Each step increases potential for undetected errors in artifacts.</a:t>
            </a:r>
            <a:endParaRPr/>
          </a:p>
          <a:p>
            <a:pPr indent="-298450" lvl="0" marL="457200" rtl="0" algn="l">
              <a:lnSpc>
                <a:spcPct val="100000"/>
              </a:lnSpc>
              <a:spcBef>
                <a:spcPts val="0"/>
              </a:spcBef>
              <a:spcAft>
                <a:spcPts val="0"/>
              </a:spcAft>
              <a:buSzPts val="1100"/>
              <a:buChar char="●"/>
            </a:pPr>
            <a:r>
              <a:rPr lang="en" sz="1100"/>
              <a:t>- Transition: What kinds of errors?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TALKING POINTS (~1.5 min):</a:t>
            </a:r>
            <a:endParaRPr/>
          </a:p>
          <a:p>
            <a:pPr indent="-298450" lvl="0" marL="457200" rtl="0" algn="l">
              <a:lnSpc>
                <a:spcPct val="100000"/>
              </a:lnSpc>
              <a:spcBef>
                <a:spcPts val="0"/>
              </a:spcBef>
              <a:spcAft>
                <a:spcPts val="0"/>
              </a:spcAft>
              <a:buSzPts val="1100"/>
              <a:buChar char="●"/>
            </a:pPr>
            <a:r>
              <a:rPr lang="en" sz="1100"/>
              <a:t>- These aren't hypothetical — they're things I've encountered at NCAR.</a:t>
            </a:r>
            <a:endParaRPr/>
          </a:p>
          <a:p>
            <a:pPr indent="-298450" lvl="0" marL="457200" rtl="0" algn="l">
              <a:lnSpc>
                <a:spcPct val="100000"/>
              </a:lnSpc>
              <a:spcBef>
                <a:spcPts val="0"/>
              </a:spcBef>
              <a:spcAft>
                <a:spcPts val="0"/>
              </a:spcAft>
              <a:buSzPts val="1100"/>
              <a:buChar char="●"/>
            </a:pPr>
            <a:r>
              <a:rPr lang="en" sz="1100"/>
              <a:t>- Precision: float32 vs float64, rounding that accumulates over simulations.</a:t>
            </a:r>
            <a:endParaRPr/>
          </a:p>
          <a:p>
            <a:pPr indent="-298450" lvl="0" marL="457200" rtl="0" algn="l">
              <a:lnSpc>
                <a:spcPct val="100000"/>
              </a:lnSpc>
              <a:spcBef>
                <a:spcPts val="0"/>
              </a:spcBef>
              <a:spcAft>
                <a:spcPts val="0"/>
              </a:spcAft>
              <a:buSzPts val="1100"/>
              <a:buChar char="●"/>
            </a:pPr>
            <a:r>
              <a:rPr lang="en" sz="1100"/>
              <a:t>- Physics: code that doesn't conserve mass/energy/momentum and passes tests.</a:t>
            </a:r>
            <a:endParaRPr/>
          </a:p>
          <a:p>
            <a:pPr indent="-298450" lvl="0" marL="457200" rtl="0" algn="l">
              <a:lnSpc>
                <a:spcPct val="100000"/>
              </a:lnSpc>
              <a:spcBef>
                <a:spcPts val="0"/>
              </a:spcBef>
              <a:spcAft>
                <a:spcPts val="0"/>
              </a:spcAft>
              <a:buSzPts val="1100"/>
              <a:buChar char="●"/>
            </a:pPr>
            <a:r>
              <a:rPr lang="en" sz="1100"/>
              <a:t>- Opaque decisions: commit history and PR reviews capture 'why' for human code; agent decisions can evaporate.</a:t>
            </a:r>
            <a:endParaRPr/>
          </a:p>
          <a:p>
            <a:pPr indent="-298450" lvl="0" marL="457200" rtl="0" algn="l">
              <a:lnSpc>
                <a:spcPct val="100000"/>
              </a:lnSpc>
              <a:spcBef>
                <a:spcPts val="0"/>
              </a:spcBef>
              <a:spcAft>
                <a:spcPts val="0"/>
              </a:spcAft>
              <a:buSzPts val="1100"/>
              <a:buChar char="●"/>
            </a:pPr>
            <a:r>
              <a:rPr lang="en" sz="1100"/>
              <a:t>- Key: These pass CI/CD but corrupt the science — and complicate artifact evaluation.</a:t>
            </a:r>
            <a:endParaRPr/>
          </a:p>
          <a:p>
            <a:pPr indent="-298450" lvl="0" marL="457200" rtl="0" algn="l">
              <a:lnSpc>
                <a:spcPct val="100000"/>
              </a:lnSpc>
              <a:spcBef>
                <a:spcPts val="0"/>
              </a:spcBef>
              <a:spcAft>
                <a:spcPts val="0"/>
              </a:spcAft>
              <a:buSzPts val="1100"/>
              <a:buChar char="●"/>
            </a:pPr>
            <a:r>
              <a:rPr lang="en" sz="1100"/>
              <a:t>- Transition: What do we do about it?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TALKING POINTS (~1.5 min):</a:t>
            </a:r>
            <a:endParaRPr/>
          </a:p>
          <a:p>
            <a:pPr indent="-298450" lvl="0" marL="457200" rtl="0" algn="l">
              <a:lnSpc>
                <a:spcPct val="100000"/>
              </a:lnSpc>
              <a:spcBef>
                <a:spcPts val="0"/>
              </a:spcBef>
              <a:spcAft>
                <a:spcPts val="0"/>
              </a:spcAft>
              <a:buSzPts val="1100"/>
              <a:buChar char="●"/>
            </a:pPr>
            <a:r>
              <a:rPr lang="en" sz="1100"/>
              <a:t>- My BSSw Fellowship is developing a methodology I'm calling Scientific Agentic Engineering, or SAE.</a:t>
            </a:r>
            <a:endParaRPr/>
          </a:p>
          <a:p>
            <a:pPr indent="-298450" lvl="0" marL="457200" rtl="0" algn="l">
              <a:lnSpc>
                <a:spcPct val="100000"/>
              </a:lnSpc>
              <a:spcBef>
                <a:spcPts val="0"/>
              </a:spcBef>
              <a:spcAft>
                <a:spcPts val="0"/>
              </a:spcAft>
              <a:buSzPts val="1100"/>
              <a:buChar char="●"/>
            </a:pPr>
            <a:r>
              <a:rPr lang="en" sz="1100"/>
              <a:t>- Three pillars: validation loops, human oversight, standardized tooling.</a:t>
            </a:r>
            <a:endParaRPr/>
          </a:p>
          <a:p>
            <a:pPr indent="-298450" lvl="0" marL="457200" rtl="0" algn="l">
              <a:lnSpc>
                <a:spcPct val="100000"/>
              </a:lnSpc>
              <a:spcBef>
                <a:spcPts val="0"/>
              </a:spcBef>
              <a:spcAft>
                <a:spcPts val="0"/>
              </a:spcAft>
              <a:buSzPts val="1100"/>
              <a:buChar char="●"/>
            </a:pPr>
            <a:r>
              <a:rPr lang="en" sz="1100"/>
              <a:t>- SAE is tool-agnostic — about principles, not any specific AI product.</a:t>
            </a:r>
            <a:endParaRPr/>
          </a:p>
          <a:p>
            <a:pPr indent="-298450" lvl="0" marL="457200" rtl="0" algn="l">
              <a:lnSpc>
                <a:spcPct val="100000"/>
              </a:lnSpc>
              <a:spcBef>
                <a:spcPts val="0"/>
              </a:spcBef>
              <a:spcAft>
                <a:spcPts val="0"/>
              </a:spcAft>
              <a:buSzPts val="1100"/>
              <a:buChar char="●"/>
            </a:pPr>
            <a:r>
              <a:rPr lang="en" sz="1100"/>
              <a:t>- Fellowship just started — framework design phase. Deliverables over the next 12 months.</a:t>
            </a:r>
            <a:endParaRPr/>
          </a:p>
          <a:p>
            <a:pPr indent="-298450" lvl="0" marL="457200" rtl="0" algn="l">
              <a:lnSpc>
                <a:spcPct val="100000"/>
              </a:lnSpc>
              <a:spcBef>
                <a:spcPts val="0"/>
              </a:spcBef>
              <a:spcAft>
                <a:spcPts val="0"/>
              </a:spcAft>
              <a:buSzPts val="1100"/>
              <a:buChar char="●"/>
            </a:pPr>
            <a:r>
              <a:rPr lang="en" sz="1100"/>
              <a:t>- Transition: Why does this matter for this audience?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TALKING POINTS (~1 min):</a:t>
            </a:r>
            <a:endParaRPr/>
          </a:p>
          <a:p>
            <a:pPr indent="-298450" lvl="0" marL="457200" rtl="0" algn="l">
              <a:lnSpc>
                <a:spcPct val="100000"/>
              </a:lnSpc>
              <a:spcBef>
                <a:spcPts val="0"/>
              </a:spcBef>
              <a:spcAft>
                <a:spcPts val="0"/>
              </a:spcAft>
              <a:buSzPts val="1100"/>
              <a:buChar char="●"/>
            </a:pPr>
            <a:r>
              <a:rPr lang="en" sz="1100"/>
              <a:t>- Connection to today's discussions.</a:t>
            </a:r>
            <a:endParaRPr/>
          </a:p>
          <a:p>
            <a:pPr indent="-298450" lvl="0" marL="457200" rtl="0" algn="l">
              <a:lnSpc>
                <a:spcPct val="100000"/>
              </a:lnSpc>
              <a:spcBef>
                <a:spcPts val="0"/>
              </a:spcBef>
              <a:spcAft>
                <a:spcPts val="0"/>
              </a:spcAft>
              <a:buSzPts val="1100"/>
              <a:buChar char="●"/>
            </a:pPr>
            <a:r>
              <a:rPr lang="en" sz="1100"/>
              <a:t>- Undisciplined build-side produces artifacts harder for AD/AE.</a:t>
            </a:r>
            <a:endParaRPr/>
          </a:p>
          <a:p>
            <a:pPr indent="-298450" lvl="0" marL="457200" rtl="0" algn="l">
              <a:lnSpc>
                <a:spcPct val="100000"/>
              </a:lnSpc>
              <a:spcBef>
                <a:spcPts val="0"/>
              </a:spcBef>
              <a:spcAft>
                <a:spcPts val="0"/>
              </a:spcAft>
              <a:buSzPts val="1100"/>
              <a:buChar char="●"/>
            </a:pPr>
            <a:r>
              <a:rPr lang="en" sz="1100"/>
              <a:t>- Reproduce-side AI agents also need guardrails.</a:t>
            </a:r>
            <a:endParaRPr/>
          </a:p>
          <a:p>
            <a:pPr indent="-298450" lvl="0" marL="457200" rtl="0" algn="l">
              <a:lnSpc>
                <a:spcPct val="100000"/>
              </a:lnSpc>
              <a:spcBef>
                <a:spcPts val="0"/>
              </a:spcBef>
              <a:spcAft>
                <a:spcPts val="0"/>
              </a:spcAft>
              <a:buSzPts val="1100"/>
              <a:buChar char="●"/>
            </a:pPr>
            <a:r>
              <a:rPr lang="en" sz="1100"/>
              <a:t>- Same structural patterns serve both sides.</a:t>
            </a:r>
            <a:endParaRPr/>
          </a:p>
          <a:p>
            <a:pPr indent="-298450" lvl="0" marL="457200" rtl="0" algn="l">
              <a:lnSpc>
                <a:spcPct val="100000"/>
              </a:lnSpc>
              <a:spcBef>
                <a:spcPts val="0"/>
              </a:spcBef>
              <a:spcAft>
                <a:spcPts val="0"/>
              </a:spcAft>
              <a:buSzPts val="1100"/>
              <a:buChar char="●"/>
            </a:pPr>
            <a:r>
              <a:rPr lang="en" sz="1100"/>
              <a:t>- Build-time discipline is upstream of reproduce-time reliability.</a:t>
            </a:r>
            <a:endParaRPr/>
          </a:p>
          <a:p>
            <a:pPr indent="-298450" lvl="0" marL="457200" rtl="0" algn="l">
              <a:lnSpc>
                <a:spcPct val="100000"/>
              </a:lnSpc>
              <a:spcBef>
                <a:spcPts val="0"/>
              </a:spcBef>
              <a:spcAft>
                <a:spcPts val="0"/>
              </a:spcAft>
              <a:buSzPts val="1100"/>
              <a:buChar char="●"/>
            </a:pPr>
            <a:r>
              <a:rPr lang="en" sz="1100"/>
              <a:t>- Transition: Closing.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TALKING POINTS (~30 sec):</a:t>
            </a:r>
            <a:endParaRPr/>
          </a:p>
          <a:p>
            <a:pPr indent="-298450" lvl="0" marL="457200" rtl="0" algn="l">
              <a:lnSpc>
                <a:spcPct val="100000"/>
              </a:lnSpc>
              <a:spcBef>
                <a:spcPts val="0"/>
              </a:spcBef>
              <a:spcAft>
                <a:spcPts val="0"/>
              </a:spcAft>
              <a:buSzPts val="1100"/>
              <a:buChar char="●"/>
            </a:pPr>
            <a:r>
              <a:rPr lang="en" sz="1100"/>
              <a:t>- Fellowship just kicked off. All deliverables coming over the next 12 months.</a:t>
            </a:r>
            <a:endParaRPr/>
          </a:p>
          <a:p>
            <a:pPr indent="-298450" lvl="0" marL="457200" rtl="0" algn="l">
              <a:lnSpc>
                <a:spcPct val="100000"/>
              </a:lnSpc>
              <a:spcBef>
                <a:spcPts val="0"/>
              </a:spcBef>
              <a:spcAft>
                <a:spcPts val="0"/>
              </a:spcAft>
              <a:buSzPts val="1100"/>
              <a:buChar char="●"/>
            </a:pPr>
            <a:r>
              <a:rPr lang="en" sz="1100"/>
              <a:t>- If interested — especially from R&amp;R/AE perspective — project site will have resources.</a:t>
            </a:r>
            <a:endParaRPr/>
          </a:p>
          <a:p>
            <a:pPr indent="-298450" lvl="0" marL="457200" rtl="0" algn="l">
              <a:lnSpc>
                <a:spcPct val="100000"/>
              </a:lnSpc>
              <a:spcBef>
                <a:spcPts val="0"/>
              </a:spcBef>
              <a:spcAft>
                <a:spcPts val="0"/>
              </a:spcAft>
              <a:buSzPts val="1100"/>
              <a:buChar char="●"/>
            </a:pPr>
            <a:r>
              <a:rPr lang="en" sz="1100"/>
              <a:t>- Interested in feedback on what guardrails would be most valuable for AD/AE.</a:t>
            </a:r>
            <a:endParaRPr/>
          </a:p>
          <a:p>
            <a:pPr indent="-298450" lvl="0" marL="457200" rtl="0" algn="l">
              <a:lnSpc>
                <a:spcPct val="100000"/>
              </a:lnSpc>
              <a:spcBef>
                <a:spcPts val="0"/>
              </a:spcBef>
              <a:spcAft>
                <a:spcPts val="0"/>
              </a:spcAft>
              <a:buSzPts val="1100"/>
              <a:buChar char="●"/>
            </a:pPr>
            <a:r>
              <a:rPr lang="en" sz="1100"/>
              <a:t>- Thank you. Happy to take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3.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White RAL" type="title">
  <p:cSld name="TITLE">
    <p:spTree>
      <p:nvGrpSpPr>
        <p:cNvPr id="7" name="Shape 7"/>
        <p:cNvGrpSpPr/>
        <p:nvPr/>
      </p:nvGrpSpPr>
      <p:grpSpPr>
        <a:xfrm>
          <a:off x="0" y="0"/>
          <a:ext cx="0" cy="0"/>
          <a:chOff x="0" y="0"/>
          <a:chExt cx="0" cy="0"/>
        </a:xfrm>
      </p:grpSpPr>
      <p:pic>
        <p:nvPicPr>
          <p:cNvPr id="8" name="Google Shape;8;p9" title="iStock-1369481411 (1).jpg"/>
          <p:cNvPicPr preferRelativeResize="0"/>
          <p:nvPr/>
        </p:nvPicPr>
        <p:blipFill rotWithShape="1">
          <a:blip r:embed="rId2">
            <a:alphaModFix/>
          </a:blip>
          <a:srcRect b="0" l="0" r="39875" t="0"/>
          <a:stretch/>
        </p:blipFill>
        <p:spPr>
          <a:xfrm>
            <a:off x="3230427" y="0"/>
            <a:ext cx="5913574" cy="5143499"/>
          </a:xfrm>
          <a:prstGeom prst="rect">
            <a:avLst/>
          </a:prstGeom>
          <a:noFill/>
          <a:ln>
            <a:noFill/>
          </a:ln>
        </p:spPr>
      </p:pic>
      <p:pic>
        <p:nvPicPr>
          <p:cNvPr id="9" name="Google Shape;9;p9" title="NCAR-Cover-White.png"/>
          <p:cNvPicPr preferRelativeResize="0"/>
          <p:nvPr/>
        </p:nvPicPr>
        <p:blipFill rotWithShape="1">
          <a:blip r:embed="rId3">
            <a:alphaModFix/>
          </a:blip>
          <a:srcRect b="0" l="0" r="28377" t="0"/>
          <a:stretch/>
        </p:blipFill>
        <p:spPr>
          <a:xfrm>
            <a:off x="0" y="0"/>
            <a:ext cx="6549226" cy="5143500"/>
          </a:xfrm>
          <a:prstGeom prst="rect">
            <a:avLst/>
          </a:prstGeom>
          <a:noFill/>
          <a:ln>
            <a:noFill/>
          </a:ln>
        </p:spPr>
      </p:pic>
      <p:pic>
        <p:nvPicPr>
          <p:cNvPr id="10" name="Google Shape;10;p9" title="RAL color vertical RGB.png"/>
          <p:cNvPicPr preferRelativeResize="0"/>
          <p:nvPr/>
        </p:nvPicPr>
        <p:blipFill rotWithShape="1">
          <a:blip r:embed="rId4">
            <a:alphaModFix/>
          </a:blip>
          <a:srcRect b="0" l="0" r="0" t="0"/>
          <a:stretch/>
        </p:blipFill>
        <p:spPr>
          <a:xfrm>
            <a:off x="656928" y="335178"/>
            <a:ext cx="2844352" cy="1181432"/>
          </a:xfrm>
          <a:prstGeom prst="rect">
            <a:avLst/>
          </a:prstGeom>
          <a:noFill/>
          <a:ln>
            <a:noFill/>
          </a:ln>
        </p:spPr>
      </p:pic>
    </p:spTree>
  </p:cSld>
  <p:clrMapOvr>
    <a:masterClrMapping/>
  </p:clrMapOvr>
  <p:extLst>
    <p:ext uri="{DCECCB84-F9BA-43D5-87BE-67443E8EF086}">
      <p15:sldGuideLst>
        <p15:guide id="1" pos="432">
          <p15:clr>
            <a:srgbClr val="E46962"/>
          </p15:clr>
        </p15:guide>
        <p15:guide id="2" pos="2880">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 2 Col Text">
  <p:cSld name="CUSTOM_1_1">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10"/>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1pPr>
            <a:lvl2pPr indent="0" lvl="1"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2pPr>
            <a:lvl3pPr indent="0" lvl="2"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3pPr>
            <a:lvl4pPr indent="0" lvl="3"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4pPr>
            <a:lvl5pPr indent="0" lvl="4"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5pPr>
            <a:lvl6pPr indent="0" lvl="5"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6pPr>
            <a:lvl7pPr indent="0" lvl="6"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7pPr>
            <a:lvl8pPr indent="0" lvl="7"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8pPr>
            <a:lvl9pPr indent="0" lvl="8"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9pPr>
          </a:lstStyle>
          <a:p>
            <a:pPr indent="0" lvl="0" marL="0" rtl="0" algn="l">
              <a:spcBef>
                <a:spcPts val="0"/>
              </a:spcBef>
              <a:spcAft>
                <a:spcPts val="0"/>
              </a:spcAft>
              <a:buNone/>
            </a:pPr>
            <a:fld id="{00000000-1234-1234-1234-123412341234}" type="slidenum">
              <a:rPr lang="en"/>
              <a:t>‹#›</a:t>
            </a:fld>
            <a:endParaRPr/>
          </a:p>
        </p:txBody>
      </p:sp>
      <p:sp>
        <p:nvSpPr>
          <p:cNvPr id="13" name="Google Shape;13;p10"/>
          <p:cNvSpPr txBox="1"/>
          <p:nvPr/>
        </p:nvSpPr>
        <p:spPr>
          <a:xfrm>
            <a:off x="586720" y="4846950"/>
            <a:ext cx="3765000" cy="10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oppins"/>
                <a:ea typeface="Poppins"/>
                <a:cs typeface="Poppins"/>
                <a:sym typeface="Poppins"/>
              </a:rPr>
              <a:t>BSSw Fellowship | Scientific Agentic Engineering</a:t>
            </a:r>
            <a:endParaRPr b="1" i="0" sz="700" u="none" cap="none" strike="noStrike">
              <a:solidFill>
                <a:schemeClr val="dk1"/>
              </a:solidFill>
              <a:latin typeface="Poppins"/>
              <a:ea typeface="Poppins"/>
              <a:cs typeface="Poppins"/>
              <a:sym typeface="Poppins"/>
            </a:endParaRPr>
          </a:p>
        </p:txBody>
      </p:sp>
      <p:cxnSp>
        <p:nvCxnSpPr>
          <p:cNvPr id="14" name="Google Shape;14;p10"/>
          <p:cNvCxnSpPr/>
          <p:nvPr/>
        </p:nvCxnSpPr>
        <p:spPr>
          <a:xfrm>
            <a:off x="457200" y="4826850"/>
            <a:ext cx="0" cy="150000"/>
          </a:xfrm>
          <a:prstGeom prst="straightConnector1">
            <a:avLst/>
          </a:prstGeom>
          <a:noFill/>
          <a:ln cap="flat" cmpd="sng" w="9525">
            <a:solidFill>
              <a:schemeClr val="dk1"/>
            </a:solidFill>
            <a:prstDash val="solid"/>
            <a:round/>
            <a:headEnd len="sm" w="sm" type="none"/>
            <a:tailEnd len="sm" w="sm" type="none"/>
          </a:ln>
        </p:spPr>
      </p:cxnSp>
      <p:sp>
        <p:nvSpPr>
          <p:cNvPr id="15" name="Google Shape;15;p10"/>
          <p:cNvSpPr txBox="1"/>
          <p:nvPr>
            <p:ph type="title"/>
          </p:nvPr>
        </p:nvSpPr>
        <p:spPr>
          <a:xfrm>
            <a:off x="457275" y="1371900"/>
            <a:ext cx="4000500" cy="3248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200"/>
              <a:buNone/>
              <a:defRPr b="0" sz="1200">
                <a:solidFill>
                  <a:schemeClr val="dk1"/>
                </a:solidFill>
              </a:defRPr>
            </a:lvl1pPr>
            <a:lvl2pPr lvl="1" algn="l">
              <a:lnSpc>
                <a:spcPct val="100000"/>
              </a:lnSpc>
              <a:spcBef>
                <a:spcPts val="70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16" name="Google Shape;16;p10"/>
          <p:cNvSpPr txBox="1"/>
          <p:nvPr>
            <p:ph idx="2" type="title"/>
          </p:nvPr>
        </p:nvSpPr>
        <p:spPr>
          <a:xfrm>
            <a:off x="4686300" y="1371900"/>
            <a:ext cx="4000500" cy="3248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200"/>
              <a:buNone/>
              <a:defRPr b="0" sz="1200">
                <a:solidFill>
                  <a:schemeClr val="dk1"/>
                </a:solidFill>
              </a:defRPr>
            </a:lvl1pPr>
            <a:lvl2pPr lvl="1" algn="l">
              <a:lnSpc>
                <a:spcPct val="100000"/>
              </a:lnSpc>
              <a:spcBef>
                <a:spcPts val="70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pic>
        <p:nvPicPr>
          <p:cNvPr id="17" name="Google Shape;17;p10" title="RAL color horizontal RGB.png"/>
          <p:cNvPicPr preferRelativeResize="0"/>
          <p:nvPr/>
        </p:nvPicPr>
        <p:blipFill rotWithShape="1">
          <a:blip r:embed="rId3">
            <a:alphaModFix/>
          </a:blip>
          <a:srcRect b="0" l="0" r="0" t="0"/>
          <a:stretch/>
        </p:blipFill>
        <p:spPr>
          <a:xfrm>
            <a:off x="6293708" y="310813"/>
            <a:ext cx="2393093" cy="352900"/>
          </a:xfrm>
          <a:prstGeom prst="rect">
            <a:avLst/>
          </a:prstGeom>
          <a:noFill/>
          <a:ln>
            <a:noFill/>
          </a:ln>
        </p:spPr>
      </p:pic>
    </p:spTree>
  </p:cSld>
  <p:clrMapOvr>
    <a:masterClrMapping/>
  </p:clrMapOvr>
  <p:extLst>
    <p:ext uri="{DCECCB84-F9BA-43D5-87BE-67443E8EF086}">
      <p15:sldGuideLst>
        <p15:guide id="1" pos="2808">
          <p15:clr>
            <a:srgbClr val="E46962"/>
          </p15:clr>
        </p15:guide>
        <p15:guide id="2" pos="2952">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 4 Col Text">
  <p:cSld name="CUSTOM_1_1_2_1">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11"/>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1pPr>
            <a:lvl2pPr indent="0" lvl="1"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2pPr>
            <a:lvl3pPr indent="0" lvl="2"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3pPr>
            <a:lvl4pPr indent="0" lvl="3"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4pPr>
            <a:lvl5pPr indent="0" lvl="4"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5pPr>
            <a:lvl6pPr indent="0" lvl="5"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6pPr>
            <a:lvl7pPr indent="0" lvl="6"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7pPr>
            <a:lvl8pPr indent="0" lvl="7"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8pPr>
            <a:lvl9pPr indent="0" lvl="8"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9pPr>
          </a:lstStyle>
          <a:p>
            <a:pPr indent="0" lvl="0" marL="0" rtl="0" algn="l">
              <a:spcBef>
                <a:spcPts val="0"/>
              </a:spcBef>
              <a:spcAft>
                <a:spcPts val="0"/>
              </a:spcAft>
              <a:buNone/>
            </a:pPr>
            <a:fld id="{00000000-1234-1234-1234-123412341234}" type="slidenum">
              <a:rPr lang="en"/>
              <a:t>‹#›</a:t>
            </a:fld>
            <a:endParaRPr/>
          </a:p>
        </p:txBody>
      </p:sp>
      <p:sp>
        <p:nvSpPr>
          <p:cNvPr id="20" name="Google Shape;20;p11"/>
          <p:cNvSpPr txBox="1"/>
          <p:nvPr/>
        </p:nvSpPr>
        <p:spPr>
          <a:xfrm>
            <a:off x="586720" y="4846950"/>
            <a:ext cx="3765000" cy="10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oppins"/>
                <a:ea typeface="Poppins"/>
                <a:cs typeface="Poppins"/>
                <a:sym typeface="Poppins"/>
              </a:rPr>
              <a:t>BSSw Fellowship | Scientific Agentic Engineering</a:t>
            </a:r>
            <a:endParaRPr b="1" i="0" sz="700" u="none" cap="none" strike="noStrike">
              <a:solidFill>
                <a:schemeClr val="dk1"/>
              </a:solidFill>
              <a:latin typeface="Poppins"/>
              <a:ea typeface="Poppins"/>
              <a:cs typeface="Poppins"/>
              <a:sym typeface="Poppins"/>
            </a:endParaRPr>
          </a:p>
        </p:txBody>
      </p:sp>
      <p:cxnSp>
        <p:nvCxnSpPr>
          <p:cNvPr id="21" name="Google Shape;21;p11"/>
          <p:cNvCxnSpPr/>
          <p:nvPr/>
        </p:nvCxnSpPr>
        <p:spPr>
          <a:xfrm>
            <a:off x="457200" y="4826850"/>
            <a:ext cx="0" cy="150000"/>
          </a:xfrm>
          <a:prstGeom prst="straightConnector1">
            <a:avLst/>
          </a:prstGeom>
          <a:noFill/>
          <a:ln cap="flat" cmpd="sng" w="9525">
            <a:solidFill>
              <a:schemeClr val="dk1"/>
            </a:solidFill>
            <a:prstDash val="solid"/>
            <a:round/>
            <a:headEnd len="sm" w="sm" type="none"/>
            <a:tailEnd len="sm" w="sm" type="none"/>
          </a:ln>
        </p:spPr>
      </p:cxnSp>
      <p:sp>
        <p:nvSpPr>
          <p:cNvPr id="22" name="Google Shape;22;p11"/>
          <p:cNvSpPr txBox="1"/>
          <p:nvPr>
            <p:ph type="title"/>
          </p:nvPr>
        </p:nvSpPr>
        <p:spPr>
          <a:xfrm>
            <a:off x="457200" y="1371900"/>
            <a:ext cx="1876800" cy="3248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None/>
              <a:defRPr b="0" sz="1000">
                <a:solidFill>
                  <a:schemeClr val="dk1"/>
                </a:solidFill>
              </a:defRPr>
            </a:lvl1pPr>
            <a:lvl2pPr lvl="1" algn="l">
              <a:lnSpc>
                <a:spcPct val="100000"/>
              </a:lnSpc>
              <a:spcBef>
                <a:spcPts val="70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23" name="Google Shape;23;p11"/>
          <p:cNvSpPr txBox="1"/>
          <p:nvPr>
            <p:ph idx="2" type="title"/>
          </p:nvPr>
        </p:nvSpPr>
        <p:spPr>
          <a:xfrm>
            <a:off x="4686300" y="1371900"/>
            <a:ext cx="1876800" cy="3248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None/>
              <a:defRPr b="0" sz="1000">
                <a:solidFill>
                  <a:schemeClr val="dk1"/>
                </a:solidFill>
              </a:defRPr>
            </a:lvl1pPr>
            <a:lvl2pPr lvl="1" algn="l">
              <a:lnSpc>
                <a:spcPct val="100000"/>
              </a:lnSpc>
              <a:spcBef>
                <a:spcPts val="70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24" name="Google Shape;24;p11"/>
          <p:cNvSpPr txBox="1"/>
          <p:nvPr>
            <p:ph idx="3" type="title"/>
          </p:nvPr>
        </p:nvSpPr>
        <p:spPr>
          <a:xfrm>
            <a:off x="6806800" y="1371900"/>
            <a:ext cx="1876800" cy="3248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None/>
              <a:defRPr b="0" sz="1000">
                <a:solidFill>
                  <a:schemeClr val="dk1"/>
                </a:solidFill>
              </a:defRPr>
            </a:lvl1pPr>
            <a:lvl2pPr lvl="1" algn="l">
              <a:lnSpc>
                <a:spcPct val="100000"/>
              </a:lnSpc>
              <a:spcBef>
                <a:spcPts val="70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25" name="Google Shape;25;p11"/>
          <p:cNvSpPr txBox="1"/>
          <p:nvPr>
            <p:ph idx="4" type="title"/>
          </p:nvPr>
        </p:nvSpPr>
        <p:spPr>
          <a:xfrm>
            <a:off x="2580900" y="1371900"/>
            <a:ext cx="1876800" cy="3248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None/>
              <a:defRPr b="0" sz="1000">
                <a:solidFill>
                  <a:schemeClr val="dk1"/>
                </a:solidFill>
              </a:defRPr>
            </a:lvl1pPr>
            <a:lvl2pPr lvl="1" algn="l">
              <a:lnSpc>
                <a:spcPct val="100000"/>
              </a:lnSpc>
              <a:spcBef>
                <a:spcPts val="70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pic>
        <p:nvPicPr>
          <p:cNvPr id="26" name="Google Shape;26;p11" title="RAL color horizontal RGB.png"/>
          <p:cNvPicPr preferRelativeResize="0"/>
          <p:nvPr/>
        </p:nvPicPr>
        <p:blipFill rotWithShape="1">
          <a:blip r:embed="rId3">
            <a:alphaModFix/>
          </a:blip>
          <a:srcRect b="0" l="0" r="0" t="0"/>
          <a:stretch/>
        </p:blipFill>
        <p:spPr>
          <a:xfrm>
            <a:off x="6293708" y="310813"/>
            <a:ext cx="2393093" cy="352900"/>
          </a:xfrm>
          <a:prstGeom prst="rect">
            <a:avLst/>
          </a:prstGeom>
          <a:noFill/>
          <a:ln>
            <a:noFill/>
          </a:ln>
        </p:spPr>
      </p:pic>
    </p:spTree>
  </p:cSld>
  <p:clrMapOvr>
    <a:masterClrMapping/>
  </p:clrMapOvr>
  <p:extLst>
    <p:ext uri="{DCECCB84-F9BA-43D5-87BE-67443E8EF086}">
      <p15:sldGuideLst>
        <p15:guide id="1" pos="2952">
          <p15:clr>
            <a:srgbClr val="E46962"/>
          </p15:clr>
        </p15:guide>
        <p15:guide id="2" pos="2808">
          <p15:clr>
            <a:srgbClr val="E46962"/>
          </p15:clr>
        </p15:guide>
        <p15:guide id="3" pos="1470">
          <p15:clr>
            <a:srgbClr val="E46962"/>
          </p15:clr>
        </p15:guide>
        <p15:guide id="4" pos="1626">
          <p15:clr>
            <a:srgbClr val="E46962"/>
          </p15:clr>
        </p15:guide>
        <p15:guide id="5" pos="4134">
          <p15:clr>
            <a:srgbClr val="E46962"/>
          </p15:clr>
        </p15:guide>
        <p15:guide id="6" pos="4288">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 2 Col Text / Image">
  <p:cSld name="CUSTOM_1_1_3">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12"/>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1pPr>
            <a:lvl2pPr indent="0" lvl="1"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2pPr>
            <a:lvl3pPr indent="0" lvl="2"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3pPr>
            <a:lvl4pPr indent="0" lvl="3"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4pPr>
            <a:lvl5pPr indent="0" lvl="4"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5pPr>
            <a:lvl6pPr indent="0" lvl="5"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6pPr>
            <a:lvl7pPr indent="0" lvl="6"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7pPr>
            <a:lvl8pPr indent="0" lvl="7"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8pPr>
            <a:lvl9pPr indent="0" lvl="8"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9pPr>
          </a:lstStyle>
          <a:p>
            <a:pPr indent="0" lvl="0" marL="0" rtl="0" algn="l">
              <a:spcBef>
                <a:spcPts val="0"/>
              </a:spcBef>
              <a:spcAft>
                <a:spcPts val="0"/>
              </a:spcAft>
              <a:buNone/>
            </a:pPr>
            <a:fld id="{00000000-1234-1234-1234-123412341234}" type="slidenum">
              <a:rPr lang="en"/>
              <a:t>‹#›</a:t>
            </a:fld>
            <a:endParaRPr/>
          </a:p>
        </p:txBody>
      </p:sp>
      <p:sp>
        <p:nvSpPr>
          <p:cNvPr id="29" name="Google Shape;29;p12"/>
          <p:cNvSpPr txBox="1"/>
          <p:nvPr/>
        </p:nvSpPr>
        <p:spPr>
          <a:xfrm>
            <a:off x="586720" y="4846950"/>
            <a:ext cx="3765000" cy="10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oppins"/>
                <a:ea typeface="Poppins"/>
                <a:cs typeface="Poppins"/>
                <a:sym typeface="Poppins"/>
              </a:rPr>
              <a:t>BSSw Fellowship | Scientific Agentic Engineering</a:t>
            </a:r>
            <a:endParaRPr b="1" i="0" sz="700" u="none" cap="none" strike="noStrike">
              <a:solidFill>
                <a:schemeClr val="dk1"/>
              </a:solidFill>
              <a:latin typeface="Poppins"/>
              <a:ea typeface="Poppins"/>
              <a:cs typeface="Poppins"/>
              <a:sym typeface="Poppins"/>
            </a:endParaRPr>
          </a:p>
        </p:txBody>
      </p:sp>
      <p:cxnSp>
        <p:nvCxnSpPr>
          <p:cNvPr id="30" name="Google Shape;30;p12"/>
          <p:cNvCxnSpPr/>
          <p:nvPr/>
        </p:nvCxnSpPr>
        <p:spPr>
          <a:xfrm>
            <a:off x="457200" y="4826850"/>
            <a:ext cx="0" cy="150000"/>
          </a:xfrm>
          <a:prstGeom prst="straightConnector1">
            <a:avLst/>
          </a:prstGeom>
          <a:noFill/>
          <a:ln cap="flat" cmpd="sng" w="9525">
            <a:solidFill>
              <a:schemeClr val="dk1"/>
            </a:solidFill>
            <a:prstDash val="solid"/>
            <a:round/>
            <a:headEnd len="sm" w="sm" type="none"/>
            <a:tailEnd len="sm" w="sm" type="none"/>
          </a:ln>
        </p:spPr>
      </p:cxnSp>
      <p:sp>
        <p:nvSpPr>
          <p:cNvPr id="31" name="Google Shape;31;p12"/>
          <p:cNvSpPr txBox="1"/>
          <p:nvPr>
            <p:ph type="title"/>
          </p:nvPr>
        </p:nvSpPr>
        <p:spPr>
          <a:xfrm>
            <a:off x="457275" y="1024250"/>
            <a:ext cx="4000500" cy="359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b="0" sz="1200">
                <a:solidFill>
                  <a:schemeClr val="dk1"/>
                </a:solidFill>
              </a:defRPr>
            </a:lvl1pPr>
            <a:lvl2pPr lvl="1" algn="l">
              <a:lnSpc>
                <a:spcPct val="100000"/>
              </a:lnSpc>
              <a:spcBef>
                <a:spcPts val="70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pic>
        <p:nvPicPr>
          <p:cNvPr id="32" name="Google Shape;32;p12" title="RAL color horizontal RGB.png"/>
          <p:cNvPicPr preferRelativeResize="0"/>
          <p:nvPr/>
        </p:nvPicPr>
        <p:blipFill rotWithShape="1">
          <a:blip r:embed="rId3">
            <a:alphaModFix/>
          </a:blip>
          <a:srcRect b="0" l="0" r="0" t="0"/>
          <a:stretch/>
        </p:blipFill>
        <p:spPr>
          <a:xfrm>
            <a:off x="6293708" y="310813"/>
            <a:ext cx="2393093" cy="352900"/>
          </a:xfrm>
          <a:prstGeom prst="rect">
            <a:avLst/>
          </a:prstGeom>
          <a:noFill/>
          <a:ln>
            <a:noFill/>
          </a:ln>
        </p:spPr>
      </p:pic>
    </p:spTree>
  </p:cSld>
  <p:clrMapOvr>
    <a:masterClrMapping/>
  </p:clrMapOvr>
  <p:extLst>
    <p:ext uri="{DCECCB84-F9BA-43D5-87BE-67443E8EF086}">
      <p15:sldGuideLst>
        <p15:guide id="1" pos="2808">
          <p15:clr>
            <a:srgbClr val="E46962"/>
          </p15:clr>
        </p15:guide>
        <p15:guide id="2" pos="2952">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 3 Col Text">
  <p:cSld name="CUSTOM_1_1_2">
    <p:bg>
      <p:bgPr>
        <a:blipFill>
          <a:blip r:embed="rId2">
            <a:alphaModFix/>
          </a:blip>
          <a:stretch>
            <a:fillRect/>
          </a:stretch>
        </a:blipFill>
      </p:bgPr>
    </p:bg>
    <p:spTree>
      <p:nvGrpSpPr>
        <p:cNvPr id="33" name="Shape 33"/>
        <p:cNvGrpSpPr/>
        <p:nvPr/>
      </p:nvGrpSpPr>
      <p:grpSpPr>
        <a:xfrm>
          <a:off x="0" y="0"/>
          <a:ext cx="0" cy="0"/>
          <a:chOff x="0" y="0"/>
          <a:chExt cx="0" cy="0"/>
        </a:xfrm>
      </p:grpSpPr>
      <p:sp>
        <p:nvSpPr>
          <p:cNvPr id="34" name="Google Shape;34;p13"/>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1pPr>
            <a:lvl2pPr indent="0" lvl="1"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2pPr>
            <a:lvl3pPr indent="0" lvl="2"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3pPr>
            <a:lvl4pPr indent="0" lvl="3"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4pPr>
            <a:lvl5pPr indent="0" lvl="4"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5pPr>
            <a:lvl6pPr indent="0" lvl="5"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6pPr>
            <a:lvl7pPr indent="0" lvl="6"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7pPr>
            <a:lvl8pPr indent="0" lvl="7"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8pPr>
            <a:lvl9pPr indent="0" lvl="8"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9pPr>
          </a:lstStyle>
          <a:p>
            <a:pPr indent="0" lvl="0" marL="0" rtl="0" algn="l">
              <a:spcBef>
                <a:spcPts val="0"/>
              </a:spcBef>
              <a:spcAft>
                <a:spcPts val="0"/>
              </a:spcAft>
              <a:buNone/>
            </a:pPr>
            <a:fld id="{00000000-1234-1234-1234-123412341234}" type="slidenum">
              <a:rPr lang="en"/>
              <a:t>‹#›</a:t>
            </a:fld>
            <a:endParaRPr/>
          </a:p>
        </p:txBody>
      </p:sp>
      <p:sp>
        <p:nvSpPr>
          <p:cNvPr id="35" name="Google Shape;35;p13"/>
          <p:cNvSpPr txBox="1"/>
          <p:nvPr/>
        </p:nvSpPr>
        <p:spPr>
          <a:xfrm>
            <a:off x="586720" y="4846950"/>
            <a:ext cx="3765000" cy="10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oppins"/>
                <a:ea typeface="Poppins"/>
                <a:cs typeface="Poppins"/>
                <a:sym typeface="Poppins"/>
              </a:rPr>
              <a:t>BSSw Fellowship | Scientific Agentic Engineering</a:t>
            </a:r>
            <a:endParaRPr b="1" i="0" sz="700" u="none" cap="none" strike="noStrike">
              <a:solidFill>
                <a:schemeClr val="dk1"/>
              </a:solidFill>
              <a:latin typeface="Poppins"/>
              <a:ea typeface="Poppins"/>
              <a:cs typeface="Poppins"/>
              <a:sym typeface="Poppins"/>
            </a:endParaRPr>
          </a:p>
        </p:txBody>
      </p:sp>
      <p:cxnSp>
        <p:nvCxnSpPr>
          <p:cNvPr id="36" name="Google Shape;36;p13"/>
          <p:cNvCxnSpPr/>
          <p:nvPr/>
        </p:nvCxnSpPr>
        <p:spPr>
          <a:xfrm>
            <a:off x="457200" y="4826850"/>
            <a:ext cx="0" cy="150000"/>
          </a:xfrm>
          <a:prstGeom prst="straightConnector1">
            <a:avLst/>
          </a:prstGeom>
          <a:noFill/>
          <a:ln cap="flat" cmpd="sng" w="9525">
            <a:solidFill>
              <a:schemeClr val="dk1"/>
            </a:solidFill>
            <a:prstDash val="solid"/>
            <a:round/>
            <a:headEnd len="sm" w="sm" type="none"/>
            <a:tailEnd len="sm" w="sm" type="none"/>
          </a:ln>
        </p:spPr>
      </p:cxnSp>
      <p:sp>
        <p:nvSpPr>
          <p:cNvPr id="37" name="Google Shape;37;p13"/>
          <p:cNvSpPr txBox="1"/>
          <p:nvPr>
            <p:ph type="title"/>
          </p:nvPr>
        </p:nvSpPr>
        <p:spPr>
          <a:xfrm>
            <a:off x="457200" y="1371900"/>
            <a:ext cx="2560200" cy="3248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None/>
              <a:defRPr b="0" sz="1000">
                <a:solidFill>
                  <a:schemeClr val="dk1"/>
                </a:solidFill>
              </a:defRPr>
            </a:lvl1pPr>
            <a:lvl2pPr lvl="1" algn="l">
              <a:lnSpc>
                <a:spcPct val="100000"/>
              </a:lnSpc>
              <a:spcBef>
                <a:spcPts val="70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38" name="Google Shape;38;p13"/>
          <p:cNvSpPr txBox="1"/>
          <p:nvPr>
            <p:ph idx="2" type="title"/>
          </p:nvPr>
        </p:nvSpPr>
        <p:spPr>
          <a:xfrm>
            <a:off x="3291900" y="1371900"/>
            <a:ext cx="2560200" cy="3248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None/>
              <a:defRPr b="0" sz="1000">
                <a:solidFill>
                  <a:schemeClr val="dk1"/>
                </a:solidFill>
              </a:defRPr>
            </a:lvl1pPr>
            <a:lvl2pPr lvl="1" algn="l">
              <a:lnSpc>
                <a:spcPct val="100000"/>
              </a:lnSpc>
              <a:spcBef>
                <a:spcPts val="70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39" name="Google Shape;39;p13"/>
          <p:cNvSpPr txBox="1"/>
          <p:nvPr>
            <p:ph idx="3" type="title"/>
          </p:nvPr>
        </p:nvSpPr>
        <p:spPr>
          <a:xfrm>
            <a:off x="6126600" y="1371900"/>
            <a:ext cx="2560200" cy="3248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None/>
              <a:defRPr b="0" sz="1000">
                <a:solidFill>
                  <a:schemeClr val="dk1"/>
                </a:solidFill>
              </a:defRPr>
            </a:lvl1pPr>
            <a:lvl2pPr lvl="1" algn="l">
              <a:lnSpc>
                <a:spcPct val="100000"/>
              </a:lnSpc>
              <a:spcBef>
                <a:spcPts val="70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pic>
        <p:nvPicPr>
          <p:cNvPr id="40" name="Google Shape;40;p13" title="RAL color horizontal RGB.png"/>
          <p:cNvPicPr preferRelativeResize="0"/>
          <p:nvPr/>
        </p:nvPicPr>
        <p:blipFill rotWithShape="1">
          <a:blip r:embed="rId3">
            <a:alphaModFix/>
          </a:blip>
          <a:srcRect b="0" l="0" r="0" t="0"/>
          <a:stretch/>
        </p:blipFill>
        <p:spPr>
          <a:xfrm>
            <a:off x="6293708" y="310813"/>
            <a:ext cx="2393093" cy="352900"/>
          </a:xfrm>
          <a:prstGeom prst="rect">
            <a:avLst/>
          </a:prstGeom>
          <a:noFill/>
          <a:ln>
            <a:noFill/>
          </a:ln>
        </p:spPr>
      </p:pic>
    </p:spTree>
  </p:cSld>
  <p:clrMapOvr>
    <a:masterClrMapping/>
  </p:clrMapOvr>
  <p:extLst>
    <p:ext uri="{DCECCB84-F9BA-43D5-87BE-67443E8EF086}">
      <p15:sldGuideLst>
        <p15:guide id="1" pos="1901">
          <p15:clr>
            <a:srgbClr val="E46962"/>
          </p15:clr>
        </p15:guide>
        <p15:guide id="2" pos="2074">
          <p15:clr>
            <a:srgbClr val="E46962"/>
          </p15:clr>
        </p15:guide>
        <p15:guide id="3" pos="3686">
          <p15:clr>
            <a:srgbClr val="E46962"/>
          </p15:clr>
        </p15:guide>
        <p15:guide id="4" pos="3859">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 1 Col Text">
  <p:cSld name="CUSTOM_1">
    <p:bg>
      <p:bgPr>
        <a:blipFill>
          <a:blip r:embed="rId2">
            <a:alphaModFix/>
          </a:blip>
          <a:stretch>
            <a:fillRect/>
          </a:stretch>
        </a:blipFill>
      </p:bgPr>
    </p:bg>
    <p:spTree>
      <p:nvGrpSpPr>
        <p:cNvPr id="41" name="Shape 41"/>
        <p:cNvGrpSpPr/>
        <p:nvPr/>
      </p:nvGrpSpPr>
      <p:grpSpPr>
        <a:xfrm>
          <a:off x="0" y="0"/>
          <a:ext cx="0" cy="0"/>
          <a:chOff x="0" y="0"/>
          <a:chExt cx="0" cy="0"/>
        </a:xfrm>
      </p:grpSpPr>
      <p:sp>
        <p:nvSpPr>
          <p:cNvPr id="42" name="Google Shape;42;p14"/>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1pPr>
            <a:lvl2pPr indent="0" lvl="1"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2pPr>
            <a:lvl3pPr indent="0" lvl="2"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3pPr>
            <a:lvl4pPr indent="0" lvl="3"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4pPr>
            <a:lvl5pPr indent="0" lvl="4"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5pPr>
            <a:lvl6pPr indent="0" lvl="5"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6pPr>
            <a:lvl7pPr indent="0" lvl="6"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7pPr>
            <a:lvl8pPr indent="0" lvl="7"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8pPr>
            <a:lvl9pPr indent="0" lvl="8"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9pPr>
          </a:lstStyle>
          <a:p>
            <a:pPr indent="0" lvl="0" marL="0" rtl="0" algn="l">
              <a:spcBef>
                <a:spcPts val="0"/>
              </a:spcBef>
              <a:spcAft>
                <a:spcPts val="0"/>
              </a:spcAft>
              <a:buNone/>
            </a:pPr>
            <a:fld id="{00000000-1234-1234-1234-123412341234}" type="slidenum">
              <a:rPr lang="en"/>
              <a:t>‹#›</a:t>
            </a:fld>
            <a:endParaRPr/>
          </a:p>
        </p:txBody>
      </p:sp>
      <p:sp>
        <p:nvSpPr>
          <p:cNvPr id="43" name="Google Shape;43;p14"/>
          <p:cNvSpPr txBox="1"/>
          <p:nvPr/>
        </p:nvSpPr>
        <p:spPr>
          <a:xfrm>
            <a:off x="586720" y="4846950"/>
            <a:ext cx="3765000" cy="10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oppins"/>
                <a:ea typeface="Poppins"/>
                <a:cs typeface="Poppins"/>
                <a:sym typeface="Poppins"/>
              </a:rPr>
              <a:t>BSSw Fellowship | Scientific Agentic Engineering</a:t>
            </a:r>
            <a:endParaRPr b="1" i="0" sz="700" u="none" cap="none" strike="noStrike">
              <a:solidFill>
                <a:schemeClr val="dk1"/>
              </a:solidFill>
              <a:latin typeface="Poppins"/>
              <a:ea typeface="Poppins"/>
              <a:cs typeface="Poppins"/>
              <a:sym typeface="Poppins"/>
            </a:endParaRPr>
          </a:p>
        </p:txBody>
      </p:sp>
      <p:cxnSp>
        <p:nvCxnSpPr>
          <p:cNvPr id="44" name="Google Shape;44;p14"/>
          <p:cNvCxnSpPr/>
          <p:nvPr/>
        </p:nvCxnSpPr>
        <p:spPr>
          <a:xfrm>
            <a:off x="457200" y="4826850"/>
            <a:ext cx="0" cy="150000"/>
          </a:xfrm>
          <a:prstGeom prst="straightConnector1">
            <a:avLst/>
          </a:prstGeom>
          <a:noFill/>
          <a:ln cap="flat" cmpd="sng" w="9525">
            <a:solidFill>
              <a:schemeClr val="dk1"/>
            </a:solidFill>
            <a:prstDash val="solid"/>
            <a:round/>
            <a:headEnd len="sm" w="sm" type="none"/>
            <a:tailEnd len="sm" w="sm" type="none"/>
          </a:ln>
        </p:spPr>
      </p:cxnSp>
      <p:sp>
        <p:nvSpPr>
          <p:cNvPr id="45" name="Google Shape;45;p14"/>
          <p:cNvSpPr txBox="1"/>
          <p:nvPr>
            <p:ph type="title"/>
          </p:nvPr>
        </p:nvSpPr>
        <p:spPr>
          <a:xfrm>
            <a:off x="1143000" y="1371900"/>
            <a:ext cx="6858000" cy="32484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b="0" sz="1200">
                <a:solidFill>
                  <a:schemeClr val="dk1"/>
                </a:solidFill>
              </a:defRPr>
            </a:lvl1pPr>
            <a:lvl2pPr lvl="1" algn="l">
              <a:lnSpc>
                <a:spcPct val="100000"/>
              </a:lnSpc>
              <a:spcBef>
                <a:spcPts val="70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pic>
        <p:nvPicPr>
          <p:cNvPr id="46" name="Google Shape;46;p14" title="RAL color horizontal RGB.png"/>
          <p:cNvPicPr preferRelativeResize="0"/>
          <p:nvPr/>
        </p:nvPicPr>
        <p:blipFill rotWithShape="1">
          <a:blip r:embed="rId3">
            <a:alphaModFix/>
          </a:blip>
          <a:srcRect b="0" l="0" r="0" t="0"/>
          <a:stretch/>
        </p:blipFill>
        <p:spPr>
          <a:xfrm>
            <a:off x="6293708" y="310813"/>
            <a:ext cx="2393093" cy="352900"/>
          </a:xfrm>
          <a:prstGeom prst="rect">
            <a:avLst/>
          </a:prstGeom>
          <a:noFill/>
          <a:ln>
            <a:noFill/>
          </a:ln>
        </p:spPr>
      </p:pic>
    </p:spTree>
  </p:cSld>
  <p:clrMapOvr>
    <a:masterClrMapping/>
  </p:clrMapOvr>
  <p:extLst>
    <p:ext uri="{DCECCB84-F9BA-43D5-87BE-67443E8EF086}">
      <p15:sldGuideLst>
        <p15:guide id="1" pos="720">
          <p15:clr>
            <a:srgbClr val="E46962"/>
          </p15:clr>
        </p15:guide>
        <p15:guide id="2" pos="5040">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 Bold Statement">
  <p:cSld name="CUSTOM_2">
    <p:bg>
      <p:bgPr>
        <a:solidFill>
          <a:schemeClr val="dk2"/>
        </a:solidFill>
      </p:bgPr>
    </p:bg>
    <p:spTree>
      <p:nvGrpSpPr>
        <p:cNvPr id="47" name="Shape 47"/>
        <p:cNvGrpSpPr/>
        <p:nvPr/>
      </p:nvGrpSpPr>
      <p:grpSpPr>
        <a:xfrm>
          <a:off x="0" y="0"/>
          <a:ext cx="0" cy="0"/>
          <a:chOff x="0" y="0"/>
          <a:chExt cx="0" cy="0"/>
        </a:xfrm>
      </p:grpSpPr>
      <p:pic>
        <p:nvPicPr>
          <p:cNvPr id="48" name="Google Shape;48;p15" title="NCAR-Interior-BG-Blue.png"/>
          <p:cNvPicPr preferRelativeResize="0"/>
          <p:nvPr/>
        </p:nvPicPr>
        <p:blipFill rotWithShape="1">
          <a:blip r:embed="rId2">
            <a:alphaModFix/>
          </a:blip>
          <a:srcRect b="0" l="0" r="0" t="0"/>
          <a:stretch/>
        </p:blipFill>
        <p:spPr>
          <a:xfrm>
            <a:off x="0" y="2"/>
            <a:ext cx="9144000" cy="5143500"/>
          </a:xfrm>
          <a:prstGeom prst="rect">
            <a:avLst/>
          </a:prstGeom>
          <a:noFill/>
          <a:ln>
            <a:noFill/>
          </a:ln>
        </p:spPr>
      </p:pic>
      <p:sp>
        <p:nvSpPr>
          <p:cNvPr id="49" name="Google Shape;49;p15"/>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spcAft>
                <a:spcPts val="0"/>
              </a:spcAft>
              <a:buClr>
                <a:srgbClr val="000000"/>
              </a:buClr>
              <a:buSzPts val="700"/>
              <a:buFont typeface="Arial"/>
              <a:buNone/>
              <a:defRPr b="1" i="0" sz="700" u="none" cap="none" strike="noStrike">
                <a:solidFill>
                  <a:schemeClr val="lt1"/>
                </a:solidFill>
                <a:latin typeface="Poppins"/>
                <a:ea typeface="Poppins"/>
                <a:cs typeface="Poppins"/>
                <a:sym typeface="Poppins"/>
              </a:defRPr>
            </a:lvl1pPr>
            <a:lvl2pPr indent="0" lvl="1" marL="0" marR="0" rtl="0" algn="l">
              <a:lnSpc>
                <a:spcPct val="100000"/>
              </a:lnSpc>
              <a:spcBef>
                <a:spcPts val="0"/>
              </a:spcBef>
              <a:spcAft>
                <a:spcPts val="0"/>
              </a:spcAft>
              <a:buClr>
                <a:srgbClr val="000000"/>
              </a:buClr>
              <a:buSzPts val="700"/>
              <a:buFont typeface="Arial"/>
              <a:buNone/>
              <a:defRPr b="1" i="0" sz="700" u="none" cap="none" strike="noStrike">
                <a:solidFill>
                  <a:schemeClr val="lt1"/>
                </a:solidFill>
                <a:latin typeface="Poppins"/>
                <a:ea typeface="Poppins"/>
                <a:cs typeface="Poppins"/>
                <a:sym typeface="Poppins"/>
              </a:defRPr>
            </a:lvl2pPr>
            <a:lvl3pPr indent="0" lvl="2" marL="0" marR="0" rtl="0" algn="l">
              <a:lnSpc>
                <a:spcPct val="100000"/>
              </a:lnSpc>
              <a:spcBef>
                <a:spcPts val="0"/>
              </a:spcBef>
              <a:spcAft>
                <a:spcPts val="0"/>
              </a:spcAft>
              <a:buClr>
                <a:srgbClr val="000000"/>
              </a:buClr>
              <a:buSzPts val="700"/>
              <a:buFont typeface="Arial"/>
              <a:buNone/>
              <a:defRPr b="1" i="0" sz="700" u="none" cap="none" strike="noStrike">
                <a:solidFill>
                  <a:schemeClr val="lt1"/>
                </a:solidFill>
                <a:latin typeface="Poppins"/>
                <a:ea typeface="Poppins"/>
                <a:cs typeface="Poppins"/>
                <a:sym typeface="Poppins"/>
              </a:defRPr>
            </a:lvl3pPr>
            <a:lvl4pPr indent="0" lvl="3" marL="0" marR="0" rtl="0" algn="l">
              <a:lnSpc>
                <a:spcPct val="100000"/>
              </a:lnSpc>
              <a:spcBef>
                <a:spcPts val="0"/>
              </a:spcBef>
              <a:spcAft>
                <a:spcPts val="0"/>
              </a:spcAft>
              <a:buClr>
                <a:srgbClr val="000000"/>
              </a:buClr>
              <a:buSzPts val="700"/>
              <a:buFont typeface="Arial"/>
              <a:buNone/>
              <a:defRPr b="1" i="0" sz="700" u="none" cap="none" strike="noStrike">
                <a:solidFill>
                  <a:schemeClr val="lt1"/>
                </a:solidFill>
                <a:latin typeface="Poppins"/>
                <a:ea typeface="Poppins"/>
                <a:cs typeface="Poppins"/>
                <a:sym typeface="Poppins"/>
              </a:defRPr>
            </a:lvl4pPr>
            <a:lvl5pPr indent="0" lvl="4" marL="0" marR="0" rtl="0" algn="l">
              <a:lnSpc>
                <a:spcPct val="100000"/>
              </a:lnSpc>
              <a:spcBef>
                <a:spcPts val="0"/>
              </a:spcBef>
              <a:spcAft>
                <a:spcPts val="0"/>
              </a:spcAft>
              <a:buClr>
                <a:srgbClr val="000000"/>
              </a:buClr>
              <a:buSzPts val="700"/>
              <a:buFont typeface="Arial"/>
              <a:buNone/>
              <a:defRPr b="1" i="0" sz="700" u="none" cap="none" strike="noStrike">
                <a:solidFill>
                  <a:schemeClr val="lt1"/>
                </a:solidFill>
                <a:latin typeface="Poppins"/>
                <a:ea typeface="Poppins"/>
                <a:cs typeface="Poppins"/>
                <a:sym typeface="Poppins"/>
              </a:defRPr>
            </a:lvl5pPr>
            <a:lvl6pPr indent="0" lvl="5" marL="0" marR="0" rtl="0" algn="l">
              <a:lnSpc>
                <a:spcPct val="100000"/>
              </a:lnSpc>
              <a:spcBef>
                <a:spcPts val="0"/>
              </a:spcBef>
              <a:spcAft>
                <a:spcPts val="0"/>
              </a:spcAft>
              <a:buClr>
                <a:srgbClr val="000000"/>
              </a:buClr>
              <a:buSzPts val="700"/>
              <a:buFont typeface="Arial"/>
              <a:buNone/>
              <a:defRPr b="1" i="0" sz="700" u="none" cap="none" strike="noStrike">
                <a:solidFill>
                  <a:schemeClr val="lt1"/>
                </a:solidFill>
                <a:latin typeface="Poppins"/>
                <a:ea typeface="Poppins"/>
                <a:cs typeface="Poppins"/>
                <a:sym typeface="Poppins"/>
              </a:defRPr>
            </a:lvl6pPr>
            <a:lvl7pPr indent="0" lvl="6" marL="0" marR="0" rtl="0" algn="l">
              <a:lnSpc>
                <a:spcPct val="100000"/>
              </a:lnSpc>
              <a:spcBef>
                <a:spcPts val="0"/>
              </a:spcBef>
              <a:spcAft>
                <a:spcPts val="0"/>
              </a:spcAft>
              <a:buClr>
                <a:srgbClr val="000000"/>
              </a:buClr>
              <a:buSzPts val="700"/>
              <a:buFont typeface="Arial"/>
              <a:buNone/>
              <a:defRPr b="1" i="0" sz="700" u="none" cap="none" strike="noStrike">
                <a:solidFill>
                  <a:schemeClr val="lt1"/>
                </a:solidFill>
                <a:latin typeface="Poppins"/>
                <a:ea typeface="Poppins"/>
                <a:cs typeface="Poppins"/>
                <a:sym typeface="Poppins"/>
              </a:defRPr>
            </a:lvl7pPr>
            <a:lvl8pPr indent="0" lvl="7" marL="0" marR="0" rtl="0" algn="l">
              <a:lnSpc>
                <a:spcPct val="100000"/>
              </a:lnSpc>
              <a:spcBef>
                <a:spcPts val="0"/>
              </a:spcBef>
              <a:spcAft>
                <a:spcPts val="0"/>
              </a:spcAft>
              <a:buClr>
                <a:srgbClr val="000000"/>
              </a:buClr>
              <a:buSzPts val="700"/>
              <a:buFont typeface="Arial"/>
              <a:buNone/>
              <a:defRPr b="1" i="0" sz="700" u="none" cap="none" strike="noStrike">
                <a:solidFill>
                  <a:schemeClr val="lt1"/>
                </a:solidFill>
                <a:latin typeface="Poppins"/>
                <a:ea typeface="Poppins"/>
                <a:cs typeface="Poppins"/>
                <a:sym typeface="Poppins"/>
              </a:defRPr>
            </a:lvl8pPr>
            <a:lvl9pPr indent="0" lvl="8" marL="0" marR="0" rtl="0" algn="l">
              <a:lnSpc>
                <a:spcPct val="100000"/>
              </a:lnSpc>
              <a:spcBef>
                <a:spcPts val="0"/>
              </a:spcBef>
              <a:spcAft>
                <a:spcPts val="0"/>
              </a:spcAft>
              <a:buClr>
                <a:srgbClr val="000000"/>
              </a:buClr>
              <a:buSzPts val="700"/>
              <a:buFont typeface="Arial"/>
              <a:buNone/>
              <a:defRPr b="1" i="0" sz="700" u="none" cap="none" strike="noStrike">
                <a:solidFill>
                  <a:schemeClr val="lt1"/>
                </a:solidFill>
                <a:latin typeface="Poppins"/>
                <a:ea typeface="Poppins"/>
                <a:cs typeface="Poppins"/>
                <a:sym typeface="Poppins"/>
              </a:defRPr>
            </a:lvl9pPr>
          </a:lstStyle>
          <a:p>
            <a:pPr indent="0" lvl="0" marL="0" rtl="0" algn="l">
              <a:spcBef>
                <a:spcPts val="0"/>
              </a:spcBef>
              <a:spcAft>
                <a:spcPts val="0"/>
              </a:spcAft>
              <a:buNone/>
            </a:pPr>
            <a:fld id="{00000000-1234-1234-1234-123412341234}" type="slidenum">
              <a:rPr lang="en"/>
              <a:t>‹#›</a:t>
            </a:fld>
            <a:endParaRPr/>
          </a:p>
        </p:txBody>
      </p:sp>
      <p:sp>
        <p:nvSpPr>
          <p:cNvPr id="50" name="Google Shape;50;p15"/>
          <p:cNvSpPr txBox="1"/>
          <p:nvPr/>
        </p:nvSpPr>
        <p:spPr>
          <a:xfrm>
            <a:off x="586720" y="4846950"/>
            <a:ext cx="3765000" cy="10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a:ea typeface="Poppins"/>
                <a:cs typeface="Poppins"/>
                <a:sym typeface="Poppins"/>
              </a:rPr>
              <a:t>BSSw Fellowship | Scientific Agentic Engineering</a:t>
            </a:r>
            <a:endParaRPr b="0" i="0" sz="700" u="none" cap="none" strike="noStrike">
              <a:solidFill>
                <a:schemeClr val="lt1"/>
              </a:solidFill>
              <a:latin typeface="Poppins"/>
              <a:ea typeface="Poppins"/>
              <a:cs typeface="Poppins"/>
              <a:sym typeface="Poppins"/>
            </a:endParaRPr>
          </a:p>
        </p:txBody>
      </p:sp>
      <p:cxnSp>
        <p:nvCxnSpPr>
          <p:cNvPr id="51" name="Google Shape;51;p15"/>
          <p:cNvCxnSpPr/>
          <p:nvPr/>
        </p:nvCxnSpPr>
        <p:spPr>
          <a:xfrm>
            <a:off x="457200" y="4826850"/>
            <a:ext cx="0" cy="150000"/>
          </a:xfrm>
          <a:prstGeom prst="straightConnector1">
            <a:avLst/>
          </a:prstGeom>
          <a:noFill/>
          <a:ln cap="flat" cmpd="sng" w="9525">
            <a:solidFill>
              <a:schemeClr val="lt1"/>
            </a:solidFill>
            <a:prstDash val="solid"/>
            <a:round/>
            <a:headEnd len="sm" w="sm" type="none"/>
            <a:tailEnd len="sm" w="sm" type="none"/>
          </a:ln>
        </p:spPr>
      </p:cxnSp>
      <p:sp>
        <p:nvSpPr>
          <p:cNvPr id="52" name="Google Shape;52;p15"/>
          <p:cNvSpPr txBox="1"/>
          <p:nvPr>
            <p:ph type="title"/>
          </p:nvPr>
        </p:nvSpPr>
        <p:spPr>
          <a:xfrm>
            <a:off x="1143000" y="807075"/>
            <a:ext cx="6858000" cy="3813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000"/>
              <a:buNone/>
              <a:defRPr sz="3000">
                <a:solidFill>
                  <a:schemeClr val="lt1"/>
                </a:solidFill>
              </a:defRPr>
            </a:lvl1pPr>
            <a:lvl2pPr lvl="1" algn="l">
              <a:lnSpc>
                <a:spcPct val="100000"/>
              </a:lnSpc>
              <a:spcBef>
                <a:spcPts val="70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pic>
        <p:nvPicPr>
          <p:cNvPr id="53" name="Google Shape;53;p15" title="RAL white horizontal RGB.png"/>
          <p:cNvPicPr preferRelativeResize="0"/>
          <p:nvPr/>
        </p:nvPicPr>
        <p:blipFill rotWithShape="1">
          <a:blip r:embed="rId3">
            <a:alphaModFix/>
          </a:blip>
          <a:srcRect b="0" l="0" r="0" t="0"/>
          <a:stretch/>
        </p:blipFill>
        <p:spPr>
          <a:xfrm>
            <a:off x="6293708" y="310813"/>
            <a:ext cx="2393093" cy="352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White NCAR">
  <p:cSld name="TITLE_3">
    <p:spTree>
      <p:nvGrpSpPr>
        <p:cNvPr id="54" name="Shape 54"/>
        <p:cNvGrpSpPr/>
        <p:nvPr/>
      </p:nvGrpSpPr>
      <p:grpSpPr>
        <a:xfrm>
          <a:off x="0" y="0"/>
          <a:ext cx="0" cy="0"/>
          <a:chOff x="0" y="0"/>
          <a:chExt cx="0" cy="0"/>
        </a:xfrm>
      </p:grpSpPr>
      <p:pic>
        <p:nvPicPr>
          <p:cNvPr id="55" name="Google Shape;55;p16" title="Early_January_2018_Nor'easter_2018-01-04_1345Z (1).jpg"/>
          <p:cNvPicPr preferRelativeResize="0"/>
          <p:nvPr/>
        </p:nvPicPr>
        <p:blipFill rotWithShape="1">
          <a:blip r:embed="rId2">
            <a:alphaModFix/>
          </a:blip>
          <a:srcRect b="6750" l="-24780" r="24780" t="4322"/>
          <a:stretch/>
        </p:blipFill>
        <p:spPr>
          <a:xfrm>
            <a:off x="3230427" y="0"/>
            <a:ext cx="5913574" cy="5143499"/>
          </a:xfrm>
          <a:prstGeom prst="rect">
            <a:avLst/>
          </a:prstGeom>
          <a:noFill/>
          <a:ln>
            <a:noFill/>
          </a:ln>
        </p:spPr>
      </p:pic>
      <p:pic>
        <p:nvPicPr>
          <p:cNvPr id="56" name="Google Shape;56;p16" title="NCAR-Cover-White.png"/>
          <p:cNvPicPr preferRelativeResize="0"/>
          <p:nvPr/>
        </p:nvPicPr>
        <p:blipFill rotWithShape="1">
          <a:blip r:embed="rId3">
            <a:alphaModFix/>
          </a:blip>
          <a:srcRect b="0" l="0" r="28377" t="0"/>
          <a:stretch/>
        </p:blipFill>
        <p:spPr>
          <a:xfrm>
            <a:off x="0" y="0"/>
            <a:ext cx="6549226" cy="5143500"/>
          </a:xfrm>
          <a:prstGeom prst="rect">
            <a:avLst/>
          </a:prstGeom>
          <a:noFill/>
          <a:ln>
            <a:noFill/>
          </a:ln>
        </p:spPr>
      </p:pic>
      <p:pic>
        <p:nvPicPr>
          <p:cNvPr id="57" name="Google Shape;57;p16" title="RAL color vertical RGB.png"/>
          <p:cNvPicPr preferRelativeResize="0"/>
          <p:nvPr/>
        </p:nvPicPr>
        <p:blipFill rotWithShape="1">
          <a:blip r:embed="rId4">
            <a:alphaModFix/>
          </a:blip>
          <a:srcRect b="0" l="0" r="0" t="0"/>
          <a:stretch/>
        </p:blipFill>
        <p:spPr>
          <a:xfrm>
            <a:off x="656928" y="335178"/>
            <a:ext cx="2844352" cy="1181432"/>
          </a:xfrm>
          <a:prstGeom prst="rect">
            <a:avLst/>
          </a:prstGeom>
          <a:noFill/>
          <a:ln>
            <a:noFill/>
          </a:ln>
        </p:spPr>
      </p:pic>
    </p:spTree>
  </p:cSld>
  <p:clrMapOvr>
    <a:masterClrMapping/>
  </p:clrMapOvr>
  <p:extLst>
    <p:ext uri="{DCECCB84-F9BA-43D5-87BE-67443E8EF086}">
      <p15:sldGuideLst>
        <p15:guide id="1" pos="432">
          <p15:clr>
            <a:srgbClr val="E46962"/>
          </p15:clr>
        </p15:guide>
        <p15:guide id="2" pos="2880">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Blue RAL">
  <p:cSld name="TITLE_2">
    <p:spTree>
      <p:nvGrpSpPr>
        <p:cNvPr id="58" name="Shape 58"/>
        <p:cNvGrpSpPr/>
        <p:nvPr/>
      </p:nvGrpSpPr>
      <p:grpSpPr>
        <a:xfrm>
          <a:off x="0" y="0"/>
          <a:ext cx="0" cy="0"/>
          <a:chOff x="0" y="0"/>
          <a:chExt cx="0" cy="0"/>
        </a:xfrm>
      </p:grpSpPr>
      <p:pic>
        <p:nvPicPr>
          <p:cNvPr id="59" name="Google Shape;59;p17" title="iStock-1369481411 (1).jpg"/>
          <p:cNvPicPr preferRelativeResize="0"/>
          <p:nvPr/>
        </p:nvPicPr>
        <p:blipFill rotWithShape="1">
          <a:blip r:embed="rId2">
            <a:alphaModFix/>
          </a:blip>
          <a:srcRect b="0" l="0" r="39875" t="0"/>
          <a:stretch/>
        </p:blipFill>
        <p:spPr>
          <a:xfrm>
            <a:off x="3230427" y="0"/>
            <a:ext cx="5913574" cy="5143499"/>
          </a:xfrm>
          <a:prstGeom prst="rect">
            <a:avLst/>
          </a:prstGeom>
          <a:noFill/>
          <a:ln>
            <a:noFill/>
          </a:ln>
        </p:spPr>
      </p:pic>
      <p:pic>
        <p:nvPicPr>
          <p:cNvPr id="60" name="Google Shape;60;p17" title="NCAR-Cover-Blue.png"/>
          <p:cNvPicPr preferRelativeResize="0"/>
          <p:nvPr/>
        </p:nvPicPr>
        <p:blipFill rotWithShape="1">
          <a:blip r:embed="rId3">
            <a:alphaModFix/>
          </a:blip>
          <a:srcRect b="0" l="0" r="28719" t="0"/>
          <a:stretch/>
        </p:blipFill>
        <p:spPr>
          <a:xfrm>
            <a:off x="0" y="0"/>
            <a:ext cx="6518102" cy="5143500"/>
          </a:xfrm>
          <a:prstGeom prst="rect">
            <a:avLst/>
          </a:prstGeom>
          <a:noFill/>
          <a:ln>
            <a:noFill/>
          </a:ln>
        </p:spPr>
      </p:pic>
      <p:pic>
        <p:nvPicPr>
          <p:cNvPr id="61" name="Google Shape;61;p17" title="RAL white vertical RGB.png"/>
          <p:cNvPicPr preferRelativeResize="0"/>
          <p:nvPr/>
        </p:nvPicPr>
        <p:blipFill rotWithShape="1">
          <a:blip r:embed="rId4">
            <a:alphaModFix/>
          </a:blip>
          <a:srcRect b="0" l="0" r="0" t="0"/>
          <a:stretch/>
        </p:blipFill>
        <p:spPr>
          <a:xfrm>
            <a:off x="654038" y="335178"/>
            <a:ext cx="2844335" cy="1181425"/>
          </a:xfrm>
          <a:prstGeom prst="rect">
            <a:avLst/>
          </a:prstGeom>
          <a:noFill/>
          <a:ln>
            <a:noFill/>
          </a:ln>
        </p:spPr>
      </p:pic>
    </p:spTree>
  </p:cSld>
  <p:clrMapOvr>
    <a:masterClrMapping/>
  </p:clrMapOvr>
  <p:extLst>
    <p:ext uri="{DCECCB84-F9BA-43D5-87BE-67443E8EF086}">
      <p15:sldGuideLst>
        <p15:guide id="1" pos="432">
          <p15:clr>
            <a:srgbClr val="E46962"/>
          </p15:clr>
        </p15:guide>
        <p15:guide id="2" pos="2880">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Blue NCAR">
  <p:cSld name="TITLE_2_1">
    <p:spTree>
      <p:nvGrpSpPr>
        <p:cNvPr id="62" name="Shape 62"/>
        <p:cNvGrpSpPr/>
        <p:nvPr/>
      </p:nvGrpSpPr>
      <p:grpSpPr>
        <a:xfrm>
          <a:off x="0" y="0"/>
          <a:ext cx="0" cy="0"/>
          <a:chOff x="0" y="0"/>
          <a:chExt cx="0" cy="0"/>
        </a:xfrm>
      </p:grpSpPr>
      <p:pic>
        <p:nvPicPr>
          <p:cNvPr id="63" name="Google Shape;63;p18" title="Early_January_2018_Nor'easter_2018-01-04_1345Z (1).jpg"/>
          <p:cNvPicPr preferRelativeResize="0"/>
          <p:nvPr/>
        </p:nvPicPr>
        <p:blipFill rotWithShape="1">
          <a:blip r:embed="rId2">
            <a:alphaModFix/>
          </a:blip>
          <a:srcRect b="6750" l="-24780" r="24780" t="4322"/>
          <a:stretch/>
        </p:blipFill>
        <p:spPr>
          <a:xfrm>
            <a:off x="3230427" y="0"/>
            <a:ext cx="5913574" cy="5143499"/>
          </a:xfrm>
          <a:prstGeom prst="rect">
            <a:avLst/>
          </a:prstGeom>
          <a:noFill/>
          <a:ln>
            <a:noFill/>
          </a:ln>
        </p:spPr>
      </p:pic>
      <p:pic>
        <p:nvPicPr>
          <p:cNvPr id="64" name="Google Shape;64;p18" title="NCAR-Cover-Blue.png"/>
          <p:cNvPicPr preferRelativeResize="0"/>
          <p:nvPr/>
        </p:nvPicPr>
        <p:blipFill rotWithShape="1">
          <a:blip r:embed="rId3">
            <a:alphaModFix/>
          </a:blip>
          <a:srcRect b="0" l="0" r="28719" t="0"/>
          <a:stretch/>
        </p:blipFill>
        <p:spPr>
          <a:xfrm>
            <a:off x="0" y="0"/>
            <a:ext cx="6518102" cy="5143500"/>
          </a:xfrm>
          <a:prstGeom prst="rect">
            <a:avLst/>
          </a:prstGeom>
          <a:noFill/>
          <a:ln>
            <a:noFill/>
          </a:ln>
        </p:spPr>
      </p:pic>
      <p:pic>
        <p:nvPicPr>
          <p:cNvPr id="65" name="Google Shape;65;p18" title="RAL white vertical RGB.png"/>
          <p:cNvPicPr preferRelativeResize="0"/>
          <p:nvPr/>
        </p:nvPicPr>
        <p:blipFill rotWithShape="1">
          <a:blip r:embed="rId4">
            <a:alphaModFix/>
          </a:blip>
          <a:srcRect b="0" l="0" r="0" t="0"/>
          <a:stretch/>
        </p:blipFill>
        <p:spPr>
          <a:xfrm>
            <a:off x="654038" y="335178"/>
            <a:ext cx="2844335" cy="1181425"/>
          </a:xfrm>
          <a:prstGeom prst="rect">
            <a:avLst/>
          </a:prstGeom>
          <a:noFill/>
          <a:ln>
            <a:noFill/>
          </a:ln>
        </p:spPr>
      </p:pic>
    </p:spTree>
  </p:cSld>
  <p:clrMapOvr>
    <a:masterClrMapping/>
  </p:clrMapOvr>
  <p:extLst>
    <p:ext uri="{DCECCB84-F9BA-43D5-87BE-67443E8EF086}">
      <p15:sldGuideLst>
        <p15:guide id="1" pos="432">
          <p15:clr>
            <a:srgbClr val="E46962"/>
          </p15:clr>
        </p15:guide>
        <p15:guide id="2" pos="2880">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 Blank">
  <p:cSld name="CUSTOM">
    <p:bg>
      <p:bgPr>
        <a:blipFill>
          <a:blip r:embed="rId2">
            <a:alphaModFix/>
          </a:blip>
          <a:stretch>
            <a:fillRect/>
          </a:stretch>
        </a:blipFill>
      </p:bgPr>
    </p:bg>
    <p:spTree>
      <p:nvGrpSpPr>
        <p:cNvPr id="66" name="Shape 66"/>
        <p:cNvGrpSpPr/>
        <p:nvPr/>
      </p:nvGrpSpPr>
      <p:grpSpPr>
        <a:xfrm>
          <a:off x="0" y="0"/>
          <a:ext cx="0" cy="0"/>
          <a:chOff x="0" y="0"/>
          <a:chExt cx="0" cy="0"/>
        </a:xfrm>
      </p:grpSpPr>
      <p:sp>
        <p:nvSpPr>
          <p:cNvPr id="67" name="Google Shape;67;p19"/>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1pPr>
            <a:lvl2pPr indent="0" lvl="1"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2pPr>
            <a:lvl3pPr indent="0" lvl="2"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3pPr>
            <a:lvl4pPr indent="0" lvl="3"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4pPr>
            <a:lvl5pPr indent="0" lvl="4"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5pPr>
            <a:lvl6pPr indent="0" lvl="5"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6pPr>
            <a:lvl7pPr indent="0" lvl="6"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7pPr>
            <a:lvl8pPr indent="0" lvl="7"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8pPr>
            <a:lvl9pPr indent="0" lvl="8" marL="0" marR="0" rtl="0" algn="l">
              <a:lnSpc>
                <a:spcPct val="100000"/>
              </a:lnSpc>
              <a:spcBef>
                <a:spcPts val="0"/>
              </a:spcBef>
              <a:spcAft>
                <a:spcPts val="0"/>
              </a:spcAft>
              <a:buClr>
                <a:srgbClr val="000000"/>
              </a:buClr>
              <a:buSzPts val="700"/>
              <a:buFont typeface="Arial"/>
              <a:buNone/>
              <a:defRPr b="1" i="0" sz="700" u="none" cap="none" strike="noStrike">
                <a:solidFill>
                  <a:schemeClr val="dk1"/>
                </a:solidFill>
                <a:latin typeface="Poppins"/>
                <a:ea typeface="Poppins"/>
                <a:cs typeface="Poppins"/>
                <a:sym typeface="Poppins"/>
              </a:defRPr>
            </a:lvl9pPr>
          </a:lstStyle>
          <a:p>
            <a:pPr indent="0" lvl="0" marL="0" rtl="0" algn="l">
              <a:spcBef>
                <a:spcPts val="0"/>
              </a:spcBef>
              <a:spcAft>
                <a:spcPts val="0"/>
              </a:spcAft>
              <a:buNone/>
            </a:pPr>
            <a:fld id="{00000000-1234-1234-1234-123412341234}" type="slidenum">
              <a:rPr lang="en"/>
              <a:t>‹#›</a:t>
            </a:fld>
            <a:endParaRPr/>
          </a:p>
        </p:txBody>
      </p:sp>
      <p:sp>
        <p:nvSpPr>
          <p:cNvPr id="68" name="Google Shape;68;p19"/>
          <p:cNvSpPr txBox="1"/>
          <p:nvPr/>
        </p:nvSpPr>
        <p:spPr>
          <a:xfrm>
            <a:off x="586720" y="4846950"/>
            <a:ext cx="3765000" cy="10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dk1"/>
                </a:solidFill>
                <a:latin typeface="Poppins"/>
                <a:ea typeface="Poppins"/>
                <a:cs typeface="Poppins"/>
                <a:sym typeface="Poppins"/>
              </a:rPr>
              <a:t>BSSw Fellowship | Scientific Agentic Engineering</a:t>
            </a:r>
            <a:endParaRPr b="0" i="0" sz="700" u="none" cap="none" strike="noStrike">
              <a:solidFill>
                <a:schemeClr val="dk1"/>
              </a:solidFill>
              <a:latin typeface="Poppins"/>
              <a:ea typeface="Poppins"/>
              <a:cs typeface="Poppins"/>
              <a:sym typeface="Poppins"/>
            </a:endParaRPr>
          </a:p>
        </p:txBody>
      </p:sp>
      <p:cxnSp>
        <p:nvCxnSpPr>
          <p:cNvPr id="69" name="Google Shape;69;p19"/>
          <p:cNvCxnSpPr/>
          <p:nvPr/>
        </p:nvCxnSpPr>
        <p:spPr>
          <a:xfrm>
            <a:off x="457200" y="4826850"/>
            <a:ext cx="0" cy="150000"/>
          </a:xfrm>
          <a:prstGeom prst="straightConnector1">
            <a:avLst/>
          </a:prstGeom>
          <a:noFill/>
          <a:ln cap="flat" cmpd="sng" w="9525">
            <a:solidFill>
              <a:schemeClr val="dk1"/>
            </a:solidFill>
            <a:prstDash val="solid"/>
            <a:round/>
            <a:headEnd len="sm" w="sm" type="none"/>
            <a:tailEnd len="sm" w="sm" type="none"/>
          </a:ln>
        </p:spPr>
      </p:cxnSp>
      <p:pic>
        <p:nvPicPr>
          <p:cNvPr id="70" name="Google Shape;70;p19" title="RAL color horizontal RGB.png"/>
          <p:cNvPicPr preferRelativeResize="0"/>
          <p:nvPr/>
        </p:nvPicPr>
        <p:blipFill rotWithShape="1">
          <a:blip r:embed="rId3">
            <a:alphaModFix/>
          </a:blip>
          <a:srcRect b="0" l="0" r="0" t="0"/>
          <a:stretch/>
        </p:blipFill>
        <p:spPr>
          <a:xfrm>
            <a:off x="6293708" y="310813"/>
            <a:ext cx="2393093" cy="3529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445025"/>
            <a:ext cx="8229600" cy="572700"/>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800"/>
              <a:buFont typeface="Poppins"/>
              <a:buNone/>
              <a:defRPr b="1" i="0" sz="28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pos="5472">
          <p15:clr>
            <a:srgbClr val="E46962"/>
          </p15:clr>
        </p15:guide>
        <p15:guide id="3" orient="horz" pos="295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
          <p:cNvSpPr/>
          <p:nvPr/>
        </p:nvSpPr>
        <p:spPr>
          <a:xfrm>
            <a:off x="0" y="1693575"/>
            <a:ext cx="155400" cy="2571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6" name="Google Shape;76;p1"/>
          <p:cNvSpPr txBox="1"/>
          <p:nvPr/>
        </p:nvSpPr>
        <p:spPr>
          <a:xfrm>
            <a:off x="691025" y="1500700"/>
            <a:ext cx="3886200" cy="295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chemeClr val="dk1"/>
                </a:solidFill>
                <a:latin typeface="Poppins"/>
                <a:ea typeface="Poppins"/>
                <a:cs typeface="Poppins"/>
                <a:sym typeface="Poppins"/>
              </a:rPr>
              <a:t>APRIL 16, 2026</a:t>
            </a:r>
            <a:endParaRPr b="1" i="0" sz="800" u="none" cap="none" strike="noStrike">
              <a:solidFill>
                <a:schemeClr val="dk1"/>
              </a:solidFill>
              <a:latin typeface="Poppins"/>
              <a:ea typeface="Poppins"/>
              <a:cs typeface="Poppins"/>
              <a:sym typeface="Poppins"/>
            </a:endParaRPr>
          </a:p>
          <a:p>
            <a:pPr indent="0" lvl="0" marL="0" marR="0" rtl="0" algn="l">
              <a:lnSpc>
                <a:spcPct val="95000"/>
              </a:lnSpc>
              <a:spcBef>
                <a:spcPts val="700"/>
              </a:spcBef>
              <a:spcAft>
                <a:spcPts val="0"/>
              </a:spcAft>
              <a:buClr>
                <a:srgbClr val="000000"/>
              </a:buClr>
              <a:buSzPts val="2200"/>
              <a:buFont typeface="Arial"/>
              <a:buNone/>
            </a:pPr>
            <a:r>
              <a:rPr b="1" i="0" lang="en" sz="2200" u="none" cap="none" strike="noStrike">
                <a:solidFill>
                  <a:schemeClr val="dk1"/>
                </a:solidFill>
                <a:latin typeface="Poppins"/>
                <a:ea typeface="Poppins"/>
                <a:cs typeface="Poppins"/>
                <a:sym typeface="Poppins"/>
              </a:rPr>
              <a:t>Before We Reproduce AI-Assisted Science, We Need to Make It Reproducible</a:t>
            </a:r>
            <a:endParaRPr b="1" i="0" sz="2200" u="none" cap="none" strike="noStrike">
              <a:solidFill>
                <a:schemeClr val="dk1"/>
              </a:solidFill>
              <a:latin typeface="Poppins"/>
              <a:ea typeface="Poppins"/>
              <a:cs typeface="Poppins"/>
              <a:sym typeface="Poppins"/>
            </a:endParaRPr>
          </a:p>
          <a:p>
            <a:pPr indent="0" lvl="0" marL="0" marR="0" rtl="0" algn="l">
              <a:lnSpc>
                <a:spcPct val="100000"/>
              </a:lnSpc>
              <a:spcBef>
                <a:spcPts val="300"/>
              </a:spcBef>
              <a:spcAft>
                <a:spcPts val="0"/>
              </a:spcAft>
              <a:buClr>
                <a:srgbClr val="000000"/>
              </a:buClr>
              <a:buSzPts val="1200"/>
              <a:buFont typeface="Arial"/>
              <a:buNone/>
            </a:pPr>
            <a:r>
              <a:rPr b="1" i="0" lang="en" sz="1200" u="none" cap="none" strike="noStrike">
                <a:solidFill>
                  <a:schemeClr val="dk1"/>
                </a:solidFill>
                <a:latin typeface="Poppins"/>
                <a:ea typeface="Poppins"/>
                <a:cs typeface="Poppins"/>
                <a:sym typeface="Poppins"/>
              </a:rPr>
              <a:t>6th Chameleon User Meeting | Applying AI to Accelerate Computational R&amp;R</a:t>
            </a:r>
            <a:endParaRPr b="1" i="0" sz="12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Poppins"/>
                <a:ea typeface="Poppins"/>
                <a:cs typeface="Poppins"/>
                <a:sym typeface="Poppins"/>
              </a:rPr>
              <a:t>Victor Weeks</a:t>
            </a:r>
            <a:endParaRPr b="1" i="0" sz="12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Poppins"/>
                <a:ea typeface="Poppins"/>
                <a:cs typeface="Poppins"/>
                <a:sym typeface="Poppins"/>
              </a:rPr>
              <a:t>Software Engineer, NSF NCAR | 2026 BSSw Fellow</a:t>
            </a:r>
            <a:endParaRPr b="0" i="0" sz="1200" u="none" cap="none" strike="noStrike">
              <a:solidFill>
                <a:schemeClr val="dk1"/>
              </a:solidFill>
              <a:latin typeface="Poppins"/>
              <a:ea typeface="Poppins"/>
              <a:cs typeface="Poppins"/>
              <a:sym typeface="Poppins"/>
            </a:endParaRPr>
          </a:p>
          <a:p>
            <a:pPr indent="0" lvl="0" marL="0" marR="0" rtl="0" algn="l">
              <a:lnSpc>
                <a:spcPct val="100000"/>
              </a:lnSpc>
              <a:spcBef>
                <a:spcPts val="50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7" name="Google Shape;77;p1"/>
          <p:cNvSpPr txBox="1"/>
          <p:nvPr/>
        </p:nvSpPr>
        <p:spPr>
          <a:xfrm>
            <a:off x="691025" y="4662881"/>
            <a:ext cx="3886200" cy="25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0" i="1" lang="en" sz="500" u="none" cap="none" strike="noStrike">
                <a:solidFill>
                  <a:schemeClr val="dk1"/>
                </a:solidFill>
                <a:latin typeface="Poppins"/>
                <a:ea typeface="Poppins"/>
                <a:cs typeface="Poppins"/>
                <a:sym typeface="Poppins"/>
              </a:rPr>
              <a:t>This material is based upon work supported by the NSF National Center for Atmospheric Research, a major facility sponsored by the U.S. National Science Foundation and managed by the University Corporation for Atmospheric Research. This work is also supported by the Better Scientific Software Fellowship Program, funded by the U.S. Department of Energy and National Science Foundation.</a:t>
            </a:r>
            <a:endParaRPr b="0" i="0" sz="1800" u="none" cap="none" strike="noStrike">
              <a:solidFill>
                <a:schemeClr val="dk1"/>
              </a:solidFill>
              <a:latin typeface="Poppins"/>
              <a:ea typeface="Poppins"/>
              <a:cs typeface="Poppins"/>
              <a:sym typeface="Poppins"/>
            </a:endParaRPr>
          </a:p>
        </p:txBody>
      </p:sp>
      <p:cxnSp>
        <p:nvCxnSpPr>
          <p:cNvPr id="78" name="Google Shape;78;p1"/>
          <p:cNvCxnSpPr/>
          <p:nvPr/>
        </p:nvCxnSpPr>
        <p:spPr>
          <a:xfrm>
            <a:off x="691025" y="3436475"/>
            <a:ext cx="603900" cy="0"/>
          </a:xfrm>
          <a:prstGeom prst="straightConnector1">
            <a:avLst/>
          </a:prstGeom>
          <a:noFill/>
          <a:ln cap="flat" cmpd="sng" w="28575">
            <a:solidFill>
              <a:schemeClr val="accent1"/>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2"/>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fld id="{00000000-1234-1234-1234-123412341234}" type="slidenum">
              <a:rPr lang="en"/>
              <a:t>‹#›</a:t>
            </a:fld>
            <a:endParaRPr/>
          </a:p>
        </p:txBody>
      </p:sp>
      <p:graphicFrame>
        <p:nvGraphicFramePr>
          <p:cNvPr id="84" name="Google Shape;84;p2"/>
          <p:cNvGraphicFramePr/>
          <p:nvPr/>
        </p:nvGraphicFramePr>
        <p:xfrm>
          <a:off x="76205" y="224405"/>
          <a:ext cx="3000000" cy="3000000"/>
        </p:xfrm>
        <a:graphic>
          <a:graphicData uri="http://schemas.openxmlformats.org/drawingml/2006/table">
            <a:tbl>
              <a:tblPr>
                <a:noFill/>
                <a:tableStyleId>{15E955CB-FF8B-4BF6-88FE-A18BC787156E}</a:tableStyleId>
              </a:tblPr>
              <a:tblGrid>
                <a:gridCol w="381075"/>
                <a:gridCol w="6401600"/>
                <a:gridCol w="1827925"/>
              </a:tblGrid>
              <a:tr h="3368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0" marL="0">
                    <a:lnL cap="flat" cmpd="sng" w="152400">
                      <a:solidFill>
                        <a:schemeClr val="accent2"/>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b="1" lang="en" sz="2000" u="none" cap="none" strike="noStrike">
                          <a:solidFill>
                            <a:schemeClr val="dk1"/>
                          </a:solidFill>
                          <a:latin typeface="Poppins"/>
                          <a:ea typeface="Poppins"/>
                          <a:cs typeface="Poppins"/>
                          <a:sym typeface="Poppins"/>
                        </a:rPr>
                        <a:t>Two Sides of the Same Coin</a:t>
                      </a:r>
                      <a:endParaRPr b="1" sz="2000" u="none" cap="none" strike="noStrike">
                        <a:solidFill>
                          <a:schemeClr val="dk1"/>
                        </a:solidFill>
                        <a:latin typeface="Poppins"/>
                        <a:ea typeface="Poppins"/>
                        <a:cs typeface="Poppins"/>
                        <a:sym typeface="Poppins"/>
                      </a:endParaRPr>
                    </a:p>
                  </a:txBody>
                  <a:tcPr marT="91425" marB="155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85" name="Google Shape;85;p2"/>
          <p:cNvSpPr txBox="1"/>
          <p:nvPr>
            <p:ph type="title"/>
          </p:nvPr>
        </p:nvSpPr>
        <p:spPr>
          <a:xfrm>
            <a:off x="457275" y="1371900"/>
            <a:ext cx="4000500" cy="32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b="1" lang="en" sz="1400"/>
              <a:t>AI to Reproduce Computational Artifacts</a:t>
            </a:r>
            <a:endParaRPr b="1" sz="1400"/>
          </a:p>
          <a:p>
            <a:pPr indent="0" lvl="0" marL="0" rtl="0" algn="l">
              <a:lnSpc>
                <a:spcPct val="115000"/>
              </a:lnSpc>
              <a:spcBef>
                <a:spcPts val="700"/>
              </a:spcBef>
              <a:spcAft>
                <a:spcPts val="0"/>
              </a:spcAft>
              <a:buSzPts val="1200"/>
              <a:buNone/>
            </a:pPr>
            <a:r>
              <a:t/>
            </a:r>
            <a:endParaRPr/>
          </a:p>
          <a:p>
            <a:pPr indent="0" lvl="0" marL="0" rtl="0" algn="l">
              <a:lnSpc>
                <a:spcPct val="115000"/>
              </a:lnSpc>
              <a:spcBef>
                <a:spcPts val="700"/>
              </a:spcBef>
              <a:spcAft>
                <a:spcPts val="0"/>
              </a:spcAft>
              <a:buSzPts val="1200"/>
              <a:buNone/>
            </a:pPr>
            <a:r>
              <a:rPr b="0" lang="en"/>
              <a:t>Reconstruct software environments</a:t>
            </a:r>
            <a:endParaRPr/>
          </a:p>
          <a:p>
            <a:pPr indent="0" lvl="0" marL="0" rtl="0" algn="l">
              <a:lnSpc>
                <a:spcPct val="115000"/>
              </a:lnSpc>
              <a:spcBef>
                <a:spcPts val="700"/>
              </a:spcBef>
              <a:spcAft>
                <a:spcPts val="0"/>
              </a:spcAft>
              <a:buSzPts val="1200"/>
              <a:buNone/>
            </a:pPr>
            <a:r>
              <a:rPr b="0" lang="en"/>
              <a:t>Resolve dependency conflicts</a:t>
            </a:r>
            <a:endParaRPr/>
          </a:p>
          <a:p>
            <a:pPr indent="0" lvl="0" marL="0" rtl="0" algn="l">
              <a:lnSpc>
                <a:spcPct val="115000"/>
              </a:lnSpc>
              <a:spcBef>
                <a:spcPts val="700"/>
              </a:spcBef>
              <a:spcAft>
                <a:spcPts val="0"/>
              </a:spcAft>
              <a:buSzPts val="1200"/>
              <a:buNone/>
            </a:pPr>
            <a:r>
              <a:rPr b="0" lang="en"/>
              <a:t>Navigate platform-specific quirks</a:t>
            </a:r>
            <a:endParaRPr/>
          </a:p>
          <a:p>
            <a:pPr indent="0" lvl="0" marL="0" rtl="0" algn="l">
              <a:lnSpc>
                <a:spcPct val="115000"/>
              </a:lnSpc>
              <a:spcBef>
                <a:spcPts val="1400"/>
              </a:spcBef>
              <a:spcAft>
                <a:spcPts val="700"/>
              </a:spcAft>
              <a:buSzPts val="1200"/>
              <a:buNone/>
            </a:pPr>
            <a:r>
              <a:rPr b="0" lang="en"/>
              <a:t>Automate artifact evaluation</a:t>
            </a:r>
            <a:endParaRPr/>
          </a:p>
        </p:txBody>
      </p:sp>
      <p:sp>
        <p:nvSpPr>
          <p:cNvPr id="86" name="Google Shape;86;p2"/>
          <p:cNvSpPr txBox="1"/>
          <p:nvPr>
            <p:ph idx="2" type="title"/>
          </p:nvPr>
        </p:nvSpPr>
        <p:spPr>
          <a:xfrm>
            <a:off x="4686300" y="1371900"/>
            <a:ext cx="4000500" cy="32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b="1" lang="en" sz="1400"/>
              <a:t>AI to Build Computational Artifacts</a:t>
            </a:r>
            <a:endParaRPr b="1" sz="1400"/>
          </a:p>
          <a:p>
            <a:pPr indent="0" lvl="0" marL="0" rtl="0" algn="l">
              <a:lnSpc>
                <a:spcPct val="115000"/>
              </a:lnSpc>
              <a:spcBef>
                <a:spcPts val="700"/>
              </a:spcBef>
              <a:spcAft>
                <a:spcPts val="0"/>
              </a:spcAft>
              <a:buSzPts val="1200"/>
              <a:buNone/>
            </a:pPr>
            <a:r>
              <a:t/>
            </a:r>
            <a:endParaRPr/>
          </a:p>
          <a:p>
            <a:pPr indent="0" lvl="0" marL="0" rtl="0" algn="l">
              <a:lnSpc>
                <a:spcPct val="115000"/>
              </a:lnSpc>
              <a:spcBef>
                <a:spcPts val="700"/>
              </a:spcBef>
              <a:spcAft>
                <a:spcPts val="0"/>
              </a:spcAft>
              <a:buSzPts val="1200"/>
              <a:buNone/>
            </a:pPr>
            <a:r>
              <a:rPr b="0" lang="en"/>
              <a:t>Write scientific software</a:t>
            </a:r>
            <a:endParaRPr/>
          </a:p>
          <a:p>
            <a:pPr indent="0" lvl="0" marL="0" rtl="0" algn="l">
              <a:lnSpc>
                <a:spcPct val="115000"/>
              </a:lnSpc>
              <a:spcBef>
                <a:spcPts val="700"/>
              </a:spcBef>
              <a:spcAft>
                <a:spcPts val="0"/>
              </a:spcAft>
              <a:buSzPts val="1200"/>
              <a:buNone/>
            </a:pPr>
            <a:r>
              <a:rPr b="0" lang="en"/>
              <a:t>Configure computational experiments</a:t>
            </a:r>
            <a:endParaRPr/>
          </a:p>
          <a:p>
            <a:pPr indent="0" lvl="0" marL="0" rtl="0" algn="l">
              <a:lnSpc>
                <a:spcPct val="115000"/>
              </a:lnSpc>
              <a:spcBef>
                <a:spcPts val="1400"/>
              </a:spcBef>
              <a:spcAft>
                <a:spcPts val="0"/>
              </a:spcAft>
              <a:buSzPts val="1200"/>
              <a:buNone/>
            </a:pPr>
            <a:r>
              <a:rPr b="0" lang="en"/>
              <a:t>Make architectural decisions</a:t>
            </a:r>
            <a:endParaRPr/>
          </a:p>
          <a:p>
            <a:pPr indent="0" lvl="0" marL="0" rtl="0" algn="l">
              <a:lnSpc>
                <a:spcPct val="115000"/>
              </a:lnSpc>
              <a:spcBef>
                <a:spcPts val="1400"/>
              </a:spcBef>
              <a:spcAft>
                <a:spcPts val="700"/>
              </a:spcAft>
              <a:buSzPts val="1200"/>
              <a:buNone/>
            </a:pPr>
            <a:r>
              <a:rPr b="0" lang="en"/>
              <a:t>Generate analysis pipelines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3"/>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fld id="{00000000-1234-1234-1234-123412341234}" type="slidenum">
              <a:rPr lang="en"/>
              <a:t>‹#›</a:t>
            </a:fld>
            <a:endParaRPr/>
          </a:p>
        </p:txBody>
      </p:sp>
      <p:graphicFrame>
        <p:nvGraphicFramePr>
          <p:cNvPr id="92" name="Google Shape;92;p3"/>
          <p:cNvGraphicFramePr/>
          <p:nvPr/>
        </p:nvGraphicFramePr>
        <p:xfrm>
          <a:off x="76205" y="224405"/>
          <a:ext cx="3000000" cy="3000000"/>
        </p:xfrm>
        <a:graphic>
          <a:graphicData uri="http://schemas.openxmlformats.org/drawingml/2006/table">
            <a:tbl>
              <a:tblPr>
                <a:noFill/>
                <a:tableStyleId>{15E955CB-FF8B-4BF6-88FE-A18BC787156E}</a:tableStyleId>
              </a:tblPr>
              <a:tblGrid>
                <a:gridCol w="381075"/>
                <a:gridCol w="6401600"/>
                <a:gridCol w="1827925"/>
              </a:tblGrid>
              <a:tr h="3368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0" marL="0">
                    <a:lnL cap="flat" cmpd="sng" w="152400">
                      <a:solidFill>
                        <a:schemeClr val="accent2"/>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b="1" lang="en" sz="2000" u="none" cap="none" strike="noStrike">
                          <a:solidFill>
                            <a:schemeClr val="dk1"/>
                          </a:solidFill>
                          <a:latin typeface="Poppins"/>
                          <a:ea typeface="Poppins"/>
                          <a:cs typeface="Poppins"/>
                          <a:sym typeface="Poppins"/>
                        </a:rPr>
                        <a:t>The AI-Assisted Development Spectrum</a:t>
                      </a:r>
                      <a:endParaRPr b="1" sz="2000" u="none" cap="none" strike="noStrike">
                        <a:solidFill>
                          <a:schemeClr val="dk1"/>
                        </a:solidFill>
                        <a:latin typeface="Poppins"/>
                        <a:ea typeface="Poppins"/>
                        <a:cs typeface="Poppins"/>
                        <a:sym typeface="Poppins"/>
                      </a:endParaRPr>
                    </a:p>
                  </a:txBody>
                  <a:tcPr marT="91425" marB="155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93" name="Google Shape;93;p3"/>
          <p:cNvSpPr txBox="1"/>
          <p:nvPr>
            <p:ph type="title"/>
          </p:nvPr>
        </p:nvSpPr>
        <p:spPr>
          <a:xfrm>
            <a:off x="457200" y="1371900"/>
            <a:ext cx="1876800" cy="32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000"/>
              <a:buNone/>
            </a:pPr>
            <a:r>
              <a:rPr b="1" lang="en" sz="1200"/>
              <a:t>"Vibe Coding"</a:t>
            </a:r>
            <a:endParaRPr b="1" sz="1200"/>
          </a:p>
          <a:p>
            <a:pPr indent="0" lvl="0" marL="0" rtl="0" algn="l">
              <a:lnSpc>
                <a:spcPct val="115000"/>
              </a:lnSpc>
              <a:spcBef>
                <a:spcPts val="700"/>
              </a:spcBef>
              <a:spcAft>
                <a:spcPts val="0"/>
              </a:spcAft>
              <a:buSzPts val="1000"/>
              <a:buNone/>
            </a:pPr>
            <a:r>
              <a:rPr b="0" lang="en"/>
              <a:t>Conversational AI assists with code generation and refactoring</a:t>
            </a:r>
            <a:endParaRPr/>
          </a:p>
          <a:p>
            <a:pPr indent="0" lvl="0" marL="0" rtl="0" algn="l">
              <a:lnSpc>
                <a:spcPct val="115000"/>
              </a:lnSpc>
              <a:spcBef>
                <a:spcPts val="700"/>
              </a:spcBef>
              <a:spcAft>
                <a:spcPts val="700"/>
              </a:spcAft>
              <a:buSzPts val="1000"/>
              <a:buNone/>
            </a:pPr>
            <a:r>
              <a:t/>
            </a:r>
            <a:endParaRPr/>
          </a:p>
        </p:txBody>
      </p:sp>
      <p:sp>
        <p:nvSpPr>
          <p:cNvPr id="94" name="Google Shape;94;p3"/>
          <p:cNvSpPr txBox="1"/>
          <p:nvPr>
            <p:ph idx="4" type="title"/>
          </p:nvPr>
        </p:nvSpPr>
        <p:spPr>
          <a:xfrm>
            <a:off x="2580900" y="1371900"/>
            <a:ext cx="1876800" cy="32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000"/>
              <a:buNone/>
            </a:pPr>
            <a:r>
              <a:rPr b="1" lang="en" sz="1200"/>
              <a:t>MCP &amp; Tools</a:t>
            </a:r>
            <a:endParaRPr b="1" sz="1200"/>
          </a:p>
          <a:p>
            <a:pPr indent="0" lvl="0" marL="0" rtl="0" algn="l">
              <a:lnSpc>
                <a:spcPct val="115000"/>
              </a:lnSpc>
              <a:spcBef>
                <a:spcPts val="700"/>
              </a:spcBef>
              <a:spcAft>
                <a:spcPts val="0"/>
              </a:spcAft>
              <a:buSzPts val="1000"/>
              <a:buNone/>
            </a:pPr>
            <a:r>
              <a:rPr b="0" lang="en"/>
              <a:t>Agents access external tools, APIs, and platform infrastructure</a:t>
            </a:r>
            <a:endParaRPr/>
          </a:p>
          <a:p>
            <a:pPr indent="0" lvl="0" marL="0" rtl="0" algn="l">
              <a:lnSpc>
                <a:spcPct val="115000"/>
              </a:lnSpc>
              <a:spcBef>
                <a:spcPts val="700"/>
              </a:spcBef>
              <a:spcAft>
                <a:spcPts val="700"/>
              </a:spcAft>
              <a:buSzPts val="1000"/>
              <a:buNone/>
            </a:pPr>
            <a:r>
              <a:t/>
            </a:r>
            <a:endParaRPr/>
          </a:p>
        </p:txBody>
      </p:sp>
      <p:sp>
        <p:nvSpPr>
          <p:cNvPr id="95" name="Google Shape;95;p3"/>
          <p:cNvSpPr txBox="1"/>
          <p:nvPr>
            <p:ph idx="2" type="title"/>
          </p:nvPr>
        </p:nvSpPr>
        <p:spPr>
          <a:xfrm>
            <a:off x="4686300" y="1371900"/>
            <a:ext cx="1876800" cy="32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000"/>
              <a:buNone/>
            </a:pPr>
            <a:r>
              <a:rPr b="1" lang="en" sz="1200"/>
              <a:t>Autonomous Agents</a:t>
            </a:r>
            <a:endParaRPr b="1" sz="1200"/>
          </a:p>
          <a:p>
            <a:pPr indent="0" lvl="0" marL="0" rtl="0" algn="l">
              <a:lnSpc>
                <a:spcPct val="115000"/>
              </a:lnSpc>
              <a:spcBef>
                <a:spcPts val="700"/>
              </a:spcBef>
              <a:spcAft>
                <a:spcPts val="0"/>
              </a:spcAft>
              <a:buSzPts val="1000"/>
              <a:buNone/>
            </a:pPr>
            <a:r>
              <a:rPr b="0" lang="en"/>
              <a:t>AI makes multi-step decisions, configures systems, and executes workflows</a:t>
            </a:r>
            <a:endParaRPr/>
          </a:p>
          <a:p>
            <a:pPr indent="0" lvl="0" marL="0" rtl="0" algn="l">
              <a:lnSpc>
                <a:spcPct val="115000"/>
              </a:lnSpc>
              <a:spcBef>
                <a:spcPts val="700"/>
              </a:spcBef>
              <a:spcAft>
                <a:spcPts val="0"/>
              </a:spcAft>
              <a:buSzPts val="1000"/>
              <a:buNone/>
            </a:pPr>
            <a:r>
              <a:t/>
            </a:r>
            <a:endParaRPr/>
          </a:p>
          <a:p>
            <a:pPr indent="0" lvl="0" marL="0" rtl="0" algn="l">
              <a:lnSpc>
                <a:spcPct val="115000"/>
              </a:lnSpc>
              <a:spcBef>
                <a:spcPts val="700"/>
              </a:spcBef>
              <a:spcAft>
                <a:spcPts val="700"/>
              </a:spcAft>
              <a:buSzPts val="1000"/>
              <a:buNone/>
            </a:pPr>
            <a:r>
              <a:t/>
            </a:r>
            <a:endParaRPr/>
          </a:p>
        </p:txBody>
      </p:sp>
      <p:sp>
        <p:nvSpPr>
          <p:cNvPr id="96" name="Google Shape;96;p3"/>
          <p:cNvSpPr txBox="1"/>
          <p:nvPr>
            <p:ph idx="3" type="title"/>
          </p:nvPr>
        </p:nvSpPr>
        <p:spPr>
          <a:xfrm>
            <a:off x="6806800" y="1371900"/>
            <a:ext cx="1876800" cy="32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000"/>
              <a:buNone/>
            </a:pPr>
            <a:r>
              <a:t/>
            </a:r>
            <a:endParaRPr b="1" sz="1200"/>
          </a:p>
          <a:p>
            <a:pPr indent="0" lvl="0" marL="0" rtl="0" algn="l">
              <a:lnSpc>
                <a:spcPct val="115000"/>
              </a:lnSpc>
              <a:spcBef>
                <a:spcPts val="700"/>
              </a:spcBef>
              <a:spcAft>
                <a:spcPts val="0"/>
              </a:spcAft>
              <a:buSzPts val="1000"/>
              <a:buNone/>
            </a:pPr>
            <a:r>
              <a:t/>
            </a:r>
            <a:endParaRPr/>
          </a:p>
          <a:p>
            <a:pPr indent="0" lvl="0" marL="0" rtl="0" algn="l">
              <a:lnSpc>
                <a:spcPct val="115000"/>
              </a:lnSpc>
              <a:spcBef>
                <a:spcPts val="700"/>
              </a:spcBef>
              <a:spcAft>
                <a:spcPts val="700"/>
              </a:spcAft>
              <a:buSzPts val="1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fld id="{00000000-1234-1234-1234-123412341234}" type="slidenum">
              <a:rPr lang="en"/>
              <a:t>‹#›</a:t>
            </a:fld>
            <a:endParaRPr/>
          </a:p>
        </p:txBody>
      </p:sp>
      <p:graphicFrame>
        <p:nvGraphicFramePr>
          <p:cNvPr id="102" name="Google Shape;102;p4"/>
          <p:cNvGraphicFramePr/>
          <p:nvPr/>
        </p:nvGraphicFramePr>
        <p:xfrm>
          <a:off x="76205" y="224405"/>
          <a:ext cx="3000000" cy="3000000"/>
        </p:xfrm>
        <a:graphic>
          <a:graphicData uri="http://schemas.openxmlformats.org/drawingml/2006/table">
            <a:tbl>
              <a:tblPr>
                <a:noFill/>
                <a:tableStyleId>{15E955CB-FF8B-4BF6-88FE-A18BC787156E}</a:tableStyleId>
              </a:tblPr>
              <a:tblGrid>
                <a:gridCol w="381075"/>
                <a:gridCol w="6401600"/>
                <a:gridCol w="1827925"/>
              </a:tblGrid>
              <a:tr h="3368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0" marL="0">
                    <a:lnL cap="flat" cmpd="sng" w="152400">
                      <a:solidFill>
                        <a:schemeClr val="accent2"/>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b="1" lang="en" sz="2000" u="none" cap="none" strike="noStrike">
                          <a:solidFill>
                            <a:schemeClr val="dk1"/>
                          </a:solidFill>
                          <a:latin typeface="Poppins"/>
                          <a:ea typeface="Poppins"/>
                          <a:cs typeface="Poppins"/>
                          <a:sym typeface="Poppins"/>
                        </a:rPr>
                        <a:t>When AI Builds Scientific Software</a:t>
                      </a:r>
                      <a:endParaRPr b="1" sz="2000" u="none" cap="none" strike="noStrike">
                        <a:solidFill>
                          <a:schemeClr val="dk1"/>
                        </a:solidFill>
                        <a:latin typeface="Poppins"/>
                        <a:ea typeface="Poppins"/>
                        <a:cs typeface="Poppins"/>
                        <a:sym typeface="Poppins"/>
                      </a:endParaRPr>
                    </a:p>
                  </a:txBody>
                  <a:tcPr marT="91425" marB="155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03" name="Google Shape;103;p4"/>
          <p:cNvSpPr txBox="1"/>
          <p:nvPr>
            <p:ph type="title"/>
          </p:nvPr>
        </p:nvSpPr>
        <p:spPr>
          <a:xfrm>
            <a:off x="457275" y="1024250"/>
            <a:ext cx="4000500" cy="35961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b="0" lang="en" sz="1400"/>
              <a:t>Failure modes distinct from standard software bugs:</a:t>
            </a:r>
            <a:endParaRPr b="1" sz="1400"/>
          </a:p>
          <a:p>
            <a:pPr indent="0" lvl="0" marL="0" rtl="0" algn="l">
              <a:lnSpc>
                <a:spcPct val="115000"/>
              </a:lnSpc>
              <a:spcBef>
                <a:spcPts val="700"/>
              </a:spcBef>
              <a:spcAft>
                <a:spcPts val="0"/>
              </a:spcAft>
              <a:buSzPts val="1200"/>
              <a:buNone/>
            </a:pPr>
            <a:r>
              <a:t/>
            </a:r>
            <a:endParaRPr/>
          </a:p>
          <a:p>
            <a:pPr indent="-195072" lvl="0" marL="210312" rtl="0" algn="l">
              <a:lnSpc>
                <a:spcPct val="115000"/>
              </a:lnSpc>
              <a:spcBef>
                <a:spcPts val="700"/>
              </a:spcBef>
              <a:spcAft>
                <a:spcPts val="0"/>
              </a:spcAft>
              <a:buClr>
                <a:schemeClr val="dk2"/>
              </a:buClr>
              <a:buSzPts val="1200"/>
              <a:buChar char="●"/>
            </a:pPr>
            <a:r>
              <a:rPr b="1" lang="en"/>
              <a:t>Numerical Precision Errors</a:t>
            </a:r>
            <a:endParaRPr/>
          </a:p>
          <a:p>
            <a:pPr indent="-195072" lvl="0" marL="210312" rtl="0" algn="l">
              <a:lnSpc>
                <a:spcPct val="115000"/>
              </a:lnSpc>
              <a:spcBef>
                <a:spcPts val="0"/>
              </a:spcBef>
              <a:spcAft>
                <a:spcPts val="0"/>
              </a:spcAft>
              <a:buClr>
                <a:schemeClr val="dk2"/>
              </a:buClr>
              <a:buSzPts val="1200"/>
              <a:buChar char="●"/>
            </a:pPr>
            <a:r>
              <a:rPr b="0" lang="en"/>
              <a:t>AI agents may introduce floating-point assumptions that silently degrade accuracy in physical simulations</a:t>
            </a:r>
            <a:endParaRPr/>
          </a:p>
          <a:p>
            <a:pPr indent="-195072" lvl="0" marL="210312" rtl="0" algn="l">
              <a:lnSpc>
                <a:spcPct val="115000"/>
              </a:lnSpc>
              <a:spcBef>
                <a:spcPts val="0"/>
              </a:spcBef>
              <a:spcAft>
                <a:spcPts val="0"/>
              </a:spcAft>
              <a:buClr>
                <a:schemeClr val="dk2"/>
              </a:buClr>
              <a:buSzPts val="1200"/>
              <a:buChar char="●"/>
            </a:pPr>
            <a:r>
              <a:t/>
            </a:r>
            <a:endParaRPr/>
          </a:p>
          <a:p>
            <a:pPr indent="-167640" lvl="1" marL="438912" rtl="0" algn="l">
              <a:lnSpc>
                <a:spcPct val="115000"/>
              </a:lnSpc>
              <a:spcBef>
                <a:spcPts val="0"/>
              </a:spcBef>
              <a:spcAft>
                <a:spcPts val="0"/>
              </a:spcAft>
              <a:buClr>
                <a:schemeClr val="dk2"/>
              </a:buClr>
              <a:buSzPts val="1200"/>
              <a:buFont typeface="Poppins"/>
              <a:buChar char="﹣"/>
            </a:pPr>
            <a:r>
              <a:rPr b="1" lang="en" sz="1200">
                <a:latin typeface="Poppins"/>
                <a:ea typeface="Poppins"/>
                <a:cs typeface="Poppins"/>
                <a:sym typeface="Poppins"/>
              </a:rPr>
              <a:t>Subtle Physics Violations</a:t>
            </a:r>
            <a:endParaRPr sz="1200">
              <a:latin typeface="Poppins"/>
              <a:ea typeface="Poppins"/>
              <a:cs typeface="Poppins"/>
              <a:sym typeface="Poppins"/>
            </a:endParaRPr>
          </a:p>
          <a:p>
            <a:pPr indent="-167640" lvl="1" marL="438912" rtl="0" algn="l">
              <a:lnSpc>
                <a:spcPct val="115000"/>
              </a:lnSpc>
              <a:spcBef>
                <a:spcPts val="0"/>
              </a:spcBef>
              <a:spcAft>
                <a:spcPts val="0"/>
              </a:spcAft>
              <a:buClr>
                <a:schemeClr val="dk2"/>
              </a:buClr>
              <a:buSzPts val="1200"/>
              <a:buFont typeface="Poppins"/>
              <a:buChar char="﹣"/>
            </a:pPr>
            <a:r>
              <a:rPr b="0" lang="en" sz="1200">
                <a:latin typeface="Poppins"/>
                <a:ea typeface="Poppins"/>
                <a:cs typeface="Poppins"/>
                <a:sym typeface="Poppins"/>
              </a:rPr>
              <a:t>Generated code can violate conservation laws or domain constraints not captured by standard test suites</a:t>
            </a:r>
            <a:endParaRPr sz="1200">
              <a:latin typeface="Poppins"/>
              <a:ea typeface="Poppins"/>
              <a:cs typeface="Poppins"/>
              <a:sym typeface="Poppins"/>
            </a:endParaRPr>
          </a:p>
          <a:p>
            <a:pPr indent="-167640" lvl="1" marL="438912" rtl="0" algn="l">
              <a:lnSpc>
                <a:spcPct val="115000"/>
              </a:lnSpc>
              <a:spcBef>
                <a:spcPts val="0"/>
              </a:spcBef>
              <a:spcAft>
                <a:spcPts val="0"/>
              </a:spcAft>
              <a:buClr>
                <a:schemeClr val="dk2"/>
              </a:buClr>
              <a:buSzPts val="1200"/>
              <a:buFont typeface="Poppins"/>
              <a:buChar char="﹣"/>
            </a:pPr>
            <a:r>
              <a:t/>
            </a:r>
            <a:endParaRPr sz="1200">
              <a:latin typeface="Poppins"/>
              <a:ea typeface="Poppins"/>
              <a:cs typeface="Poppins"/>
              <a:sym typeface="Poppins"/>
            </a:endParaRPr>
          </a:p>
          <a:p>
            <a:pPr indent="-167640" lvl="1" marL="438912" rtl="0" algn="l">
              <a:lnSpc>
                <a:spcPct val="115000"/>
              </a:lnSpc>
              <a:spcBef>
                <a:spcPts val="0"/>
              </a:spcBef>
              <a:spcAft>
                <a:spcPts val="0"/>
              </a:spcAft>
              <a:buClr>
                <a:schemeClr val="dk2"/>
              </a:buClr>
              <a:buSzPts val="1200"/>
              <a:buFont typeface="Poppins"/>
              <a:buChar char="﹣"/>
            </a:pPr>
            <a:r>
              <a:rPr b="1" lang="en" sz="1200">
                <a:latin typeface="Poppins"/>
                <a:ea typeface="Poppins"/>
                <a:cs typeface="Poppins"/>
                <a:sym typeface="Poppins"/>
              </a:rPr>
              <a:t>Opaque Decision Histories</a:t>
            </a:r>
            <a:endParaRPr sz="1200">
              <a:latin typeface="Poppins"/>
              <a:ea typeface="Poppins"/>
              <a:cs typeface="Poppins"/>
              <a:sym typeface="Poppins"/>
            </a:endParaRPr>
          </a:p>
          <a:p>
            <a:pPr indent="-167640" lvl="1" marL="438912" rtl="0" algn="l">
              <a:lnSpc>
                <a:spcPct val="115000"/>
              </a:lnSpc>
              <a:spcBef>
                <a:spcPts val="0"/>
              </a:spcBef>
              <a:spcAft>
                <a:spcPts val="0"/>
              </a:spcAft>
              <a:buClr>
                <a:schemeClr val="dk2"/>
              </a:buClr>
              <a:buSzPts val="1200"/>
              <a:buFont typeface="Poppins"/>
              <a:buChar char="﹣"/>
            </a:pPr>
            <a:r>
              <a:rPr b="0" lang="en" sz="1200">
                <a:latin typeface="Poppins"/>
                <a:ea typeface="Poppins"/>
                <a:cs typeface="Poppins"/>
                <a:sym typeface="Poppins"/>
              </a:rPr>
              <a:t>When an agent makes architectural choices, the rationale may not be recorded — making the artifact harder to describe and evaluate</a:t>
            </a:r>
            <a:endParaRPr sz="1200">
              <a:latin typeface="Poppins"/>
              <a:ea typeface="Poppins"/>
              <a:cs typeface="Poppins"/>
              <a:sym typeface="Poppins"/>
            </a:endParaRPr>
          </a:p>
        </p:txBody>
      </p:sp>
      <p:pic>
        <p:nvPicPr>
          <p:cNvPr descr="Screenshot_2026-02-12_at_1_44_34_PM.png" id="104" name="Google Shape;104;p4"/>
          <p:cNvPicPr preferRelativeResize="0"/>
          <p:nvPr/>
        </p:nvPicPr>
        <p:blipFill rotWithShape="1">
          <a:blip r:embed="rId3">
            <a:alphaModFix/>
          </a:blip>
          <a:srcRect b="0" l="0" r="0" t="0"/>
          <a:stretch/>
        </p:blipFill>
        <p:spPr>
          <a:xfrm>
            <a:off x="5303520" y="1097280"/>
            <a:ext cx="3657599" cy="3657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fld id="{00000000-1234-1234-1234-123412341234}" type="slidenum">
              <a:rPr lang="en"/>
              <a:t>‹#›</a:t>
            </a:fld>
            <a:endParaRPr/>
          </a:p>
        </p:txBody>
      </p:sp>
      <p:graphicFrame>
        <p:nvGraphicFramePr>
          <p:cNvPr id="110" name="Google Shape;110;p5"/>
          <p:cNvGraphicFramePr/>
          <p:nvPr/>
        </p:nvGraphicFramePr>
        <p:xfrm>
          <a:off x="76205" y="224405"/>
          <a:ext cx="3000000" cy="3000000"/>
        </p:xfrm>
        <a:graphic>
          <a:graphicData uri="http://schemas.openxmlformats.org/drawingml/2006/table">
            <a:tbl>
              <a:tblPr>
                <a:noFill/>
                <a:tableStyleId>{15E955CB-FF8B-4BF6-88FE-A18BC787156E}</a:tableStyleId>
              </a:tblPr>
              <a:tblGrid>
                <a:gridCol w="381075"/>
                <a:gridCol w="6401600"/>
                <a:gridCol w="1827925"/>
              </a:tblGrid>
              <a:tr h="3368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0" marL="0">
                    <a:lnL cap="flat" cmpd="sng" w="152400">
                      <a:solidFill>
                        <a:schemeClr val="accent2"/>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b="1" lang="en" sz="2000" u="none" cap="none" strike="noStrike">
                          <a:solidFill>
                            <a:schemeClr val="dk1"/>
                          </a:solidFill>
                          <a:latin typeface="Poppins"/>
                          <a:ea typeface="Poppins"/>
                          <a:cs typeface="Poppins"/>
                          <a:sym typeface="Poppins"/>
                        </a:rPr>
                        <a:t>Scientific Agentic Engineering (SAE)</a:t>
                      </a:r>
                      <a:endParaRPr b="1" sz="2000" u="none" cap="none" strike="noStrike">
                        <a:solidFill>
                          <a:schemeClr val="dk1"/>
                        </a:solidFill>
                        <a:latin typeface="Poppins"/>
                        <a:ea typeface="Poppins"/>
                        <a:cs typeface="Poppins"/>
                        <a:sym typeface="Poppins"/>
                      </a:endParaRPr>
                    </a:p>
                  </a:txBody>
                  <a:tcPr marT="91425" marB="155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11" name="Google Shape;111;p5"/>
          <p:cNvSpPr txBox="1"/>
          <p:nvPr>
            <p:ph type="title"/>
          </p:nvPr>
        </p:nvSpPr>
        <p:spPr>
          <a:xfrm>
            <a:off x="457200" y="1371900"/>
            <a:ext cx="2560200" cy="32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000"/>
              <a:buNone/>
            </a:pPr>
            <a:r>
              <a:rPr b="1" lang="en" sz="1200"/>
              <a:t>Validation Loops</a:t>
            </a:r>
            <a:endParaRPr b="1" sz="1200"/>
          </a:p>
          <a:p>
            <a:pPr indent="0" lvl="0" marL="0" rtl="0" algn="l">
              <a:lnSpc>
                <a:spcPct val="115000"/>
              </a:lnSpc>
              <a:spcBef>
                <a:spcPts val="700"/>
              </a:spcBef>
              <a:spcAft>
                <a:spcPts val="0"/>
              </a:spcAft>
              <a:buSzPts val="1000"/>
              <a:buNone/>
            </a:pPr>
            <a:r>
              <a:rPr b="0" lang="en"/>
              <a:t>Domain-specific checks integrated into agent workflows — not just at the end, but at each decision point</a:t>
            </a:r>
            <a:endParaRPr/>
          </a:p>
          <a:p>
            <a:pPr indent="0" lvl="0" marL="0" rtl="0" algn="l">
              <a:lnSpc>
                <a:spcPct val="115000"/>
              </a:lnSpc>
              <a:spcBef>
                <a:spcPts val="700"/>
              </a:spcBef>
              <a:spcAft>
                <a:spcPts val="0"/>
              </a:spcAft>
              <a:buSzPts val="1000"/>
              <a:buNone/>
            </a:pPr>
            <a:r>
              <a:t/>
            </a:r>
            <a:endParaRPr/>
          </a:p>
          <a:p>
            <a:pPr indent="0" lvl="0" marL="0" rtl="0" algn="l">
              <a:lnSpc>
                <a:spcPct val="115000"/>
              </a:lnSpc>
              <a:spcBef>
                <a:spcPts val="700"/>
              </a:spcBef>
              <a:spcAft>
                <a:spcPts val="700"/>
              </a:spcAft>
              <a:buSzPts val="1000"/>
              <a:buNone/>
            </a:pPr>
            <a:r>
              <a:t/>
            </a:r>
            <a:endParaRPr/>
          </a:p>
        </p:txBody>
      </p:sp>
      <p:sp>
        <p:nvSpPr>
          <p:cNvPr id="112" name="Google Shape;112;p5"/>
          <p:cNvSpPr txBox="1"/>
          <p:nvPr>
            <p:ph idx="2" type="title"/>
          </p:nvPr>
        </p:nvSpPr>
        <p:spPr>
          <a:xfrm>
            <a:off x="3291900" y="1371900"/>
            <a:ext cx="2560200" cy="32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000"/>
              <a:buNone/>
            </a:pPr>
            <a:r>
              <a:rPr b="1" lang="en" sz="1200"/>
              <a:t>Human Oversight</a:t>
            </a:r>
            <a:endParaRPr b="1" sz="1200"/>
          </a:p>
          <a:p>
            <a:pPr indent="0" lvl="0" marL="0" rtl="0" algn="l">
              <a:lnSpc>
                <a:spcPct val="115000"/>
              </a:lnSpc>
              <a:spcBef>
                <a:spcPts val="700"/>
              </a:spcBef>
              <a:spcAft>
                <a:spcPts val="0"/>
              </a:spcAft>
              <a:buSzPts val="1000"/>
              <a:buNone/>
            </a:pPr>
            <a:r>
              <a:rPr b="0" lang="en"/>
              <a:t>Defined points where humans review agent decisions, especially for choices with scientific implications</a:t>
            </a:r>
            <a:endParaRPr/>
          </a:p>
          <a:p>
            <a:pPr indent="0" lvl="0" marL="0" rtl="0" algn="l">
              <a:lnSpc>
                <a:spcPct val="115000"/>
              </a:lnSpc>
              <a:spcBef>
                <a:spcPts val="700"/>
              </a:spcBef>
              <a:spcAft>
                <a:spcPts val="0"/>
              </a:spcAft>
              <a:buSzPts val="1000"/>
              <a:buNone/>
            </a:pPr>
            <a:r>
              <a:t/>
            </a:r>
            <a:endParaRPr/>
          </a:p>
          <a:p>
            <a:pPr indent="0" lvl="0" marL="0" rtl="0" algn="l">
              <a:lnSpc>
                <a:spcPct val="115000"/>
              </a:lnSpc>
              <a:spcBef>
                <a:spcPts val="700"/>
              </a:spcBef>
              <a:spcAft>
                <a:spcPts val="700"/>
              </a:spcAft>
              <a:buSzPts val="1000"/>
              <a:buNone/>
            </a:pPr>
            <a:r>
              <a:t/>
            </a:r>
            <a:endParaRPr/>
          </a:p>
        </p:txBody>
      </p:sp>
      <p:sp>
        <p:nvSpPr>
          <p:cNvPr id="113" name="Google Shape;113;p5"/>
          <p:cNvSpPr txBox="1"/>
          <p:nvPr>
            <p:ph idx="3" type="title"/>
          </p:nvPr>
        </p:nvSpPr>
        <p:spPr>
          <a:xfrm>
            <a:off x="6126600" y="1371900"/>
            <a:ext cx="2560200" cy="32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000"/>
              <a:buNone/>
            </a:pPr>
            <a:r>
              <a:rPr b="1" lang="en" sz="1200"/>
              <a:t>Standardized Tooling</a:t>
            </a:r>
            <a:endParaRPr b="1" sz="1200"/>
          </a:p>
          <a:p>
            <a:pPr indent="0" lvl="0" marL="0" rtl="0" algn="l">
              <a:lnSpc>
                <a:spcPct val="115000"/>
              </a:lnSpc>
              <a:spcBef>
                <a:spcPts val="700"/>
              </a:spcBef>
              <a:spcAft>
                <a:spcPts val="0"/>
              </a:spcAft>
              <a:buSzPts val="1000"/>
              <a:buNone/>
            </a:pPr>
            <a:r>
              <a:rPr b="0" lang="en"/>
              <a:t>Reusable MCP server templates, scientific skills, and agent configurations that encode domain knowledge</a:t>
            </a:r>
            <a:endParaRPr/>
          </a:p>
          <a:p>
            <a:pPr indent="0" lvl="0" marL="0" rtl="0" algn="l">
              <a:lnSpc>
                <a:spcPct val="115000"/>
              </a:lnSpc>
              <a:spcBef>
                <a:spcPts val="700"/>
              </a:spcBef>
              <a:spcAft>
                <a:spcPts val="0"/>
              </a:spcAft>
              <a:buSzPts val="1000"/>
              <a:buNone/>
            </a:pPr>
            <a:r>
              <a:t/>
            </a:r>
            <a:endParaRPr/>
          </a:p>
          <a:p>
            <a:pPr indent="0" lvl="0" marL="0" rtl="0" algn="l">
              <a:lnSpc>
                <a:spcPct val="115000"/>
              </a:lnSpc>
              <a:spcBef>
                <a:spcPts val="700"/>
              </a:spcBef>
              <a:spcAft>
                <a:spcPts val="700"/>
              </a:spcAft>
              <a:buSzPts val="1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fld id="{00000000-1234-1234-1234-123412341234}" type="slidenum">
              <a:rPr lang="en"/>
              <a:t>‹#›</a:t>
            </a:fld>
            <a:endParaRPr/>
          </a:p>
        </p:txBody>
      </p:sp>
      <p:graphicFrame>
        <p:nvGraphicFramePr>
          <p:cNvPr id="119" name="Google Shape;119;p6"/>
          <p:cNvGraphicFramePr/>
          <p:nvPr/>
        </p:nvGraphicFramePr>
        <p:xfrm>
          <a:off x="76205" y="224405"/>
          <a:ext cx="3000000" cy="3000000"/>
        </p:xfrm>
        <a:graphic>
          <a:graphicData uri="http://schemas.openxmlformats.org/drawingml/2006/table">
            <a:tbl>
              <a:tblPr>
                <a:noFill/>
                <a:tableStyleId>{15E955CB-FF8B-4BF6-88FE-A18BC787156E}</a:tableStyleId>
              </a:tblPr>
              <a:tblGrid>
                <a:gridCol w="381075"/>
                <a:gridCol w="6401600"/>
                <a:gridCol w="1827925"/>
              </a:tblGrid>
              <a:tr h="6387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0" marL="0">
                    <a:lnL cap="flat" cmpd="sng" w="152400">
                      <a:solidFill>
                        <a:schemeClr val="accent2"/>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b="1" lang="en" sz="2000" u="none" cap="none" strike="noStrike">
                          <a:solidFill>
                            <a:schemeClr val="dk1"/>
                          </a:solidFill>
                          <a:latin typeface="Poppins"/>
                          <a:ea typeface="Poppins"/>
                          <a:cs typeface="Poppins"/>
                          <a:sym typeface="Poppins"/>
                        </a:rPr>
                        <a:t>Why Build-Time Discipline Matters for R&amp;R</a:t>
                      </a:r>
                      <a:endParaRPr b="1" sz="20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000"/>
                        <a:buFont typeface="Arial"/>
                        <a:buNone/>
                      </a:pPr>
                      <a:r>
                        <a:t/>
                      </a:r>
                      <a:endParaRPr b="1" sz="2000" u="none" cap="none" strike="noStrike">
                        <a:solidFill>
                          <a:schemeClr val="dk1"/>
                        </a:solidFill>
                        <a:latin typeface="Poppins"/>
                        <a:ea typeface="Poppins"/>
                        <a:cs typeface="Poppins"/>
                        <a:sym typeface="Poppins"/>
                      </a:endParaRPr>
                    </a:p>
                  </a:txBody>
                  <a:tcPr marT="91425" marB="155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20" name="Google Shape;120;p6"/>
          <p:cNvSpPr txBox="1"/>
          <p:nvPr>
            <p:ph type="title"/>
          </p:nvPr>
        </p:nvSpPr>
        <p:spPr>
          <a:xfrm>
            <a:off x="1143000" y="1371900"/>
            <a:ext cx="6858000" cy="3248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b="0" lang="en" sz="1400"/>
              <a:t>If AI agents build computational artifacts without guardrails, those artifacts become harder to describe in an Artifact Description and harder to validate in an Artifact Evaluation.</a:t>
            </a:r>
            <a:endParaRPr b="1" sz="1400"/>
          </a:p>
          <a:p>
            <a:pPr indent="0" lvl="0" marL="0" rtl="0" algn="l">
              <a:lnSpc>
                <a:spcPct val="115000"/>
              </a:lnSpc>
              <a:spcBef>
                <a:spcPts val="700"/>
              </a:spcBef>
              <a:spcAft>
                <a:spcPts val="0"/>
              </a:spcAft>
              <a:buSzPts val="1200"/>
              <a:buNone/>
            </a:pPr>
            <a:r>
              <a:t/>
            </a:r>
            <a:endParaRPr/>
          </a:p>
          <a:p>
            <a:pPr indent="0" lvl="0" marL="0" rtl="0" algn="l">
              <a:lnSpc>
                <a:spcPct val="115000"/>
              </a:lnSpc>
              <a:spcBef>
                <a:spcPts val="700"/>
              </a:spcBef>
              <a:spcAft>
                <a:spcPts val="0"/>
              </a:spcAft>
              <a:buSzPts val="1200"/>
              <a:buNone/>
            </a:pPr>
            <a:r>
              <a:rPr b="0" lang="en"/>
              <a:t>On the reproduce side, AI agents reconstructing environments and running evaluations also need the same kinds of guardrails — validation that the reconstructed environment actually matches, domain-aware checks on whether the reproduction is scientifically valid.</a:t>
            </a:r>
            <a:endParaRPr/>
          </a:p>
          <a:p>
            <a:pPr indent="0" lvl="0" marL="0" rtl="0" algn="l">
              <a:lnSpc>
                <a:spcPct val="115000"/>
              </a:lnSpc>
              <a:spcBef>
                <a:spcPts val="1400"/>
              </a:spcBef>
              <a:spcAft>
                <a:spcPts val="0"/>
              </a:spcAft>
              <a:buSzPts val="1200"/>
              <a:buNone/>
            </a:pPr>
            <a:r>
              <a:t/>
            </a:r>
            <a:endParaRPr/>
          </a:p>
          <a:p>
            <a:pPr indent="0" lvl="0" marL="0" rtl="0" algn="l">
              <a:lnSpc>
                <a:spcPct val="115000"/>
              </a:lnSpc>
              <a:spcBef>
                <a:spcPts val="1400"/>
              </a:spcBef>
              <a:spcAft>
                <a:spcPts val="0"/>
              </a:spcAft>
              <a:buSzPts val="1200"/>
              <a:buNone/>
            </a:pPr>
            <a:r>
              <a:rPr b="0" lang="en"/>
              <a:t>The same structural patterns that SAE defines — validation loops, domain-specific safeguards, and standardized tooling — serve both sides of this coin.</a:t>
            </a:r>
            <a:endParaRPr/>
          </a:p>
          <a:p>
            <a:pPr indent="0" lvl="0" marL="0" rtl="0" algn="l">
              <a:lnSpc>
                <a:spcPct val="115000"/>
              </a:lnSpc>
              <a:spcBef>
                <a:spcPts val="1400"/>
              </a:spcBef>
              <a:spcAft>
                <a:spcPts val="0"/>
              </a:spcAft>
              <a:buSzPts val="1200"/>
              <a:buNone/>
            </a:pPr>
            <a:r>
              <a:t/>
            </a:r>
            <a:endParaRPr/>
          </a:p>
          <a:p>
            <a:pPr indent="0" lvl="0" marL="0" rtl="0" algn="l">
              <a:lnSpc>
                <a:spcPct val="115000"/>
              </a:lnSpc>
              <a:spcBef>
                <a:spcPts val="1400"/>
              </a:spcBef>
              <a:spcAft>
                <a:spcPts val="700"/>
              </a:spcAft>
              <a:buSzPts val="1200"/>
              <a:buNone/>
            </a:pPr>
            <a:r>
              <a:rPr b="1" lang="en"/>
              <a:t>Build-time discipline is upstream of reproduce-time reliability.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ph idx="12" type="sldNum"/>
          </p:nvPr>
        </p:nvSpPr>
        <p:spPr>
          <a:xfrm>
            <a:off x="193275" y="4846950"/>
            <a:ext cx="264000" cy="296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fld id="{00000000-1234-1234-1234-123412341234}" type="slidenum">
              <a:rPr lang="en">
                <a:solidFill>
                  <a:schemeClr val="lt1"/>
                </a:solidFill>
              </a:rPr>
              <a:t>‹#›</a:t>
            </a:fld>
            <a:endParaRPr>
              <a:solidFill>
                <a:schemeClr val="lt1"/>
              </a:solidFill>
            </a:endParaRPr>
          </a:p>
        </p:txBody>
      </p:sp>
      <p:sp>
        <p:nvSpPr>
          <p:cNvPr id="126" name="Google Shape;126;p7"/>
          <p:cNvSpPr txBox="1"/>
          <p:nvPr>
            <p:ph type="title"/>
          </p:nvPr>
        </p:nvSpPr>
        <p:spPr>
          <a:xfrm>
            <a:off x="1143000" y="807075"/>
            <a:ext cx="6858000" cy="3813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000"/>
              <a:buNone/>
            </a:pPr>
            <a:r>
              <a:rPr b="1" lang="en" sz="3600"/>
              <a:t>Follow the Project</a:t>
            </a:r>
            <a:endParaRPr/>
          </a:p>
          <a:p>
            <a:pPr indent="0" lvl="0" marL="0" rtl="0" algn="l">
              <a:lnSpc>
                <a:spcPct val="100000"/>
              </a:lnSpc>
              <a:spcBef>
                <a:spcPts val="700"/>
              </a:spcBef>
              <a:spcAft>
                <a:spcPts val="0"/>
              </a:spcAft>
              <a:buSzPts val="3000"/>
              <a:buNone/>
            </a:pPr>
            <a:r>
              <a:rPr b="0" lang="en" sz="2000"/>
              <a:t>Scientific Agentic Engineering (SAE)</a:t>
            </a:r>
            <a:endParaRPr/>
          </a:p>
          <a:p>
            <a:pPr indent="0" lvl="0" marL="0" rtl="0" algn="l">
              <a:lnSpc>
                <a:spcPct val="100000"/>
              </a:lnSpc>
              <a:spcBef>
                <a:spcPts val="700"/>
              </a:spcBef>
              <a:spcAft>
                <a:spcPts val="0"/>
              </a:spcAft>
              <a:buSzPts val="3000"/>
              <a:buNone/>
            </a:pPr>
            <a:r>
              <a:t/>
            </a:r>
            <a:endParaRPr b="0" sz="1600"/>
          </a:p>
          <a:p>
            <a:pPr indent="0" lvl="0" marL="0" rtl="0" algn="l">
              <a:lnSpc>
                <a:spcPct val="100000"/>
              </a:lnSpc>
              <a:spcBef>
                <a:spcPts val="700"/>
              </a:spcBef>
              <a:spcAft>
                <a:spcPts val="0"/>
              </a:spcAft>
              <a:buSzPts val="3000"/>
              <a:buNone/>
            </a:pPr>
            <a:r>
              <a:rPr b="0" lang="en" sz="1600"/>
              <a:t>Framework &amp; methodology</a:t>
            </a:r>
            <a:endParaRPr/>
          </a:p>
          <a:p>
            <a:pPr indent="0" lvl="0" marL="0" rtl="0" algn="l">
              <a:lnSpc>
                <a:spcPct val="100000"/>
              </a:lnSpc>
              <a:spcBef>
                <a:spcPts val="700"/>
              </a:spcBef>
              <a:spcAft>
                <a:spcPts val="0"/>
              </a:spcAft>
              <a:buSzPts val="3000"/>
              <a:buNone/>
            </a:pPr>
            <a:r>
              <a:rPr b="0" lang="en" sz="1600"/>
              <a:t>Community repository of scientific MCP templates</a:t>
            </a:r>
            <a:endParaRPr/>
          </a:p>
          <a:p>
            <a:pPr indent="0" lvl="0" marL="0" rtl="0" algn="l">
              <a:lnSpc>
                <a:spcPct val="100000"/>
              </a:lnSpc>
              <a:spcBef>
                <a:spcPts val="700"/>
              </a:spcBef>
              <a:spcAft>
                <a:spcPts val="0"/>
              </a:spcAft>
              <a:buSzPts val="3000"/>
              <a:buNone/>
            </a:pPr>
            <a:r>
              <a:rPr b="0" lang="en" sz="1600"/>
              <a:t>Reference workflow &amp; tutorials</a:t>
            </a:r>
            <a:endParaRPr/>
          </a:p>
          <a:p>
            <a:pPr indent="0" lvl="0" marL="0" rtl="0" algn="l">
              <a:lnSpc>
                <a:spcPct val="100000"/>
              </a:lnSpc>
              <a:spcBef>
                <a:spcPts val="700"/>
              </a:spcBef>
              <a:spcAft>
                <a:spcPts val="0"/>
              </a:spcAft>
              <a:buSzPts val="3000"/>
              <a:buNone/>
            </a:pPr>
            <a:r>
              <a:rPr b="0" lang="en" sz="1600"/>
              <a:t>Workshops</a:t>
            </a:r>
            <a:endParaRPr/>
          </a:p>
          <a:p>
            <a:pPr indent="0" lvl="0" marL="0" rtl="0" algn="l">
              <a:lnSpc>
                <a:spcPct val="100000"/>
              </a:lnSpc>
              <a:spcBef>
                <a:spcPts val="700"/>
              </a:spcBef>
              <a:spcAft>
                <a:spcPts val="0"/>
              </a:spcAft>
              <a:buSzPts val="3000"/>
              <a:buNone/>
            </a:pPr>
            <a:r>
              <a:rPr b="1" lang="en" sz="1800"/>
              <a:t>All coming over the next 12 months.</a:t>
            </a:r>
            <a:endParaRPr/>
          </a:p>
          <a:p>
            <a:pPr indent="0" lvl="0" marL="0" rtl="0" algn="l">
              <a:lnSpc>
                <a:spcPct val="100000"/>
              </a:lnSpc>
              <a:spcBef>
                <a:spcPts val="700"/>
              </a:spcBef>
              <a:spcAft>
                <a:spcPts val="700"/>
              </a:spcAft>
              <a:buSzPts val="3000"/>
              <a:buNone/>
            </a:pPr>
            <a:r>
              <a:rPr b="0" lang="en" sz="1600"/>
              <a:t>v</a:t>
            </a:r>
            <a:r>
              <a:rPr b="0" lang="en" sz="1600"/>
              <a:t>weeks.github.io/scientific-agentic-engineering</a:t>
            </a:r>
            <a:endParaRPr/>
          </a:p>
        </p:txBody>
      </p:sp>
      <p:pic>
        <p:nvPicPr>
          <p:cNvPr descr="qr.png" id="127" name="Google Shape;127;p7"/>
          <p:cNvPicPr preferRelativeResize="0"/>
          <p:nvPr/>
        </p:nvPicPr>
        <p:blipFill rotWithShape="1">
          <a:blip r:embed="rId3">
            <a:alphaModFix/>
          </a:blip>
          <a:srcRect b="0" l="0" r="0" t="0"/>
          <a:stretch/>
        </p:blipFill>
        <p:spPr>
          <a:xfrm>
            <a:off x="6583680" y="1828800"/>
            <a:ext cx="1828800" cy="1828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357A"/>
      </a:dk1>
      <a:lt1>
        <a:srgbClr val="FFFFFF"/>
      </a:lt1>
      <a:dk2>
        <a:srgbClr val="0057C2"/>
      </a:dk2>
      <a:lt2>
        <a:srgbClr val="F1F0EE"/>
      </a:lt2>
      <a:accent1>
        <a:srgbClr val="42C0FF"/>
      </a:accent1>
      <a:accent2>
        <a:srgbClr val="FAA119"/>
      </a:accent2>
      <a:accent3>
        <a:srgbClr val="FDD509"/>
      </a:accent3>
      <a:accent4>
        <a:srgbClr val="FBE99C"/>
      </a:accent4>
      <a:accent5>
        <a:srgbClr val="011837"/>
      </a:accent5>
      <a:accent6>
        <a:srgbClr val="FFFFFF"/>
      </a:accent6>
      <a:hlink>
        <a:srgbClr val="0092D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